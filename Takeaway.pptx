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9ed0923370e4a41" /><Relationship Type="http://schemas.openxmlformats.org/officeDocument/2006/relationships/extended-properties" Target="/docProps/app.xml" Id="Rdbef7dfbb9564de2" /><Relationship Type="http://schemas.openxmlformats.org/officeDocument/2006/relationships/officeDocument" Target="/ppt/presentation.xml" Id="R9e2b9450d4464b5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bc425c6fcd14e7f"/>
  </p:sldMasterIdLst>
  <p:notesMasterIdLst>
    <p:notesMasterId xmlns:r="http://schemas.openxmlformats.org/officeDocument/2006/relationships" r:id="R0a8e1cd2bc3c4c8d"/>
  </p:notesMasterIdLst>
  <p:sldIdLst>
    <p:sldId xmlns:r="http://schemas.openxmlformats.org/officeDocument/2006/relationships" id="256" r:id="R1dd234b619434438"/>
  </p:sldIdLst>
  <p:sldSz cx="19192875" cy="11887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caf7ef68f09420e" /><Relationship Type="http://schemas.openxmlformats.org/officeDocument/2006/relationships/slideMaster" Target="/ppt/slideMasters/slideMaster1.xml" Id="Rfbc425c6fcd14e7f" /><Relationship Type="http://schemas.openxmlformats.org/officeDocument/2006/relationships/notesMaster" Target="/ppt/notesMasters/notesMaster1.xml" Id="R0a8e1cd2bc3c4c8d" /><Relationship Type="http://schemas.openxmlformats.org/officeDocument/2006/relationships/presProps" Target="/ppt/presProps.xml" Id="R82cc77589126475a" /><Relationship Type="http://schemas.openxmlformats.org/officeDocument/2006/relationships/tableStyles" Target="/ppt/tableStyles.xml" Id="R1a4eca9a742c4f66" /><Relationship Type="http://schemas.openxmlformats.org/officeDocument/2006/relationships/slide" Target="/ppt/slides/slide1.xml" Id="R1dd234b61943443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3190da239a46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c5766c7da0b4d53" /><Relationship Type="http://schemas.openxmlformats.org/officeDocument/2006/relationships/notesMaster" Target="/ppt/notesMasters/notesMaster1.xml" Id="R635320c574d14d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56d019c9984db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5092881d124e5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35b249fdd74ee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5a3853234544c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9c069bb58644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fa8d0233d047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151AB8D-BEAA-4C5E-8A66-C68A8E5007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919288" y="4490720"/>
            <a:ext cx="15354300" cy="1717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556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74C4C7D-B64A-4330-9780-BFA53C8EBA1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878931" y="6537960"/>
            <a:ext cx="13435013" cy="132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B510C7E-E150-4F83-808E-96114CC211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919288" y="4953000"/>
            <a:ext cx="153543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6612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60196F0-77FA-45C6-A383-9FB71A7DC5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79599" y="924560"/>
            <a:ext cx="17033677" cy="14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B20D1CD-D847-4DF6-BC22-7D177492D2C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9599" y="3302000"/>
            <a:ext cx="17033677" cy="739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159AED94-560C-4618-9604-7A37E8062D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79599" y="924560"/>
            <a:ext cx="17033677" cy="14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4328FD-2FAD-4193-8D5F-7630482A12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9599" y="3302000"/>
            <a:ext cx="7917061" cy="739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56F3050-07E4-46D2-B01E-301CE06593E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0196215" y="3302000"/>
            <a:ext cx="7917061" cy="739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30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AA8BCD-3F88-4490-AAA0-FE82F6E615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079599" y="924560"/>
            <a:ext cx="17033677" cy="14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19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81D3E0E-5861-4ABA-9DD9-69E378BCE3A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079599" y="3302000"/>
            <a:ext cx="7917061" cy="7396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35986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83968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31951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799332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279154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758976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238798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718620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198441" indent="-359866" algn="l">
              <a:lnSpc>
                <a:spcPct val="110000"/>
              </a:lnSpc>
              <a:spcBef>
                <a:spcPts val="0"/>
              </a:spcBef>
              <a:spcAft>
                <a:spcPts val="1889"/>
              </a:spcAft>
              <a:buChar char="•"/>
              <a:defRPr sz="354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c799c5f11c94f15" /><Relationship Type="http://schemas.openxmlformats.org/officeDocument/2006/relationships/slideLayout" Target="/ppt/slideLayouts/slideLayout1.xml" Id="R2f709bbd60ab41f0" /><Relationship Type="http://schemas.openxmlformats.org/officeDocument/2006/relationships/slideLayout" Target="/ppt/slideLayouts/slideLayout2.xml" Id="R93a83fe9b51f42ed" /><Relationship Type="http://schemas.openxmlformats.org/officeDocument/2006/relationships/slideLayout" Target="/ppt/slideLayouts/slideLayout3.xml" Id="R389b20a4570743cb" /><Relationship Type="http://schemas.openxmlformats.org/officeDocument/2006/relationships/slideLayout" Target="/ppt/slideLayouts/slideLayout4.xml" Id="Ra8644196e2f44be2" /><Relationship Type="http://schemas.openxmlformats.org/officeDocument/2006/relationships/slideLayout" Target="/ppt/slideLayouts/slideLayout5.xml" Id="Rf4cb726eef814c18" /><Relationship Type="http://schemas.openxmlformats.org/officeDocument/2006/relationships/slideLayout" Target="/ppt/slideLayouts/slideLayout6.xml" Id="Rfdabe938022c4a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709bbd60ab41f0"/>
    <p:sldLayoutId xmlns:r="http://schemas.openxmlformats.org/officeDocument/2006/relationships" id="2147483650" r:id="R93a83fe9b51f42ed"/>
    <p:sldLayoutId xmlns:r="http://schemas.openxmlformats.org/officeDocument/2006/relationships" id="2147483651" r:id="R389b20a4570743cb"/>
    <p:sldLayoutId xmlns:r="http://schemas.openxmlformats.org/officeDocument/2006/relationships" id="2147483652" r:id="Ra8644196e2f44be2"/>
    <p:sldLayoutId xmlns:r="http://schemas.openxmlformats.org/officeDocument/2006/relationships" id="2147483653" r:id="Rf4cb726eef814c18"/>
    <p:sldLayoutId xmlns:r="http://schemas.openxmlformats.org/officeDocument/2006/relationships" id="2147483654" r:id="Rfdabe938022c4a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3f05d7a00a465e" /><Relationship Type="http://schemas.openxmlformats.org/officeDocument/2006/relationships/notesSlide" Target="/ppt/notesSlides/notesSlide1.xml" Id="R98fcdd0f016240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8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header left">
            <a:extLst xmlns:a="http://schemas.openxmlformats.org/drawingml/2006/main">
              <a:ext uri="{FF2B5EF4-FFF2-40B4-BE49-F238E27FC236}">
                <a16:creationId xmlns:a16="http://schemas.microsoft.com/office/drawing/2014/main" id="{CE09003A-A504-4C3A-89B2-F68DDB06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" y="66675"/>
            <a:ext cx="9239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448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B R O W N · A I    /    F O R M A T I V E   R E S E A R C H</a:t>
            </a:r>
          </a:p>
        </p:txBody>
      </p:sp>
      <p:sp>
        <p:nvSpPr>
          <p:cNvPr id="2" name="header right">
            <a:extLst xmlns:a="http://schemas.openxmlformats.org/drawingml/2006/main">
              <a:ext uri="{FF2B5EF4-FFF2-40B4-BE49-F238E27FC236}">
                <a16:creationId xmlns:a16="http://schemas.microsoft.com/office/drawing/2014/main" id="{439B3005-8D71-4222-A57B-4A7540905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2825" y="76200"/>
            <a:ext cx="38290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defRPr>
            </a:pPr>
            <a:r>
              <a:rPr sz="1748" b="1" i="0">
                <a:solidFill>
                  <a:srgbClr val="69777C"/>
                </a:solidFill>
                <a:latin typeface="Nimbus Sans"/>
                <a:ea typeface="Nimbus Sans"/>
                <a:cs typeface="Nimbus Sans"/>
              </a:rPr>
              <a:t>9 STUDENT INTERVIEWS</a:t>
            </a:r>
          </a:p>
        </p:txBody>
      </p:sp>
      <p:sp>
        <p:nvSpPr>
          <p:cNvPr id="3" name="main title">
            <a:extLst xmlns:a="http://schemas.openxmlformats.org/drawingml/2006/main">
              <a:ext uri="{FF2B5EF4-FFF2-40B4-BE49-F238E27FC236}">
                <a16:creationId xmlns:a16="http://schemas.microsoft.com/office/drawing/2014/main" id="{2E412D6E-9DB6-4735-8992-AF858CCD2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" y="885825"/>
            <a:ext cx="17430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4875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Why BrownAI? What Students Told Us.</a:t>
            </a:r>
          </a:p>
        </p:txBody>
      </p:sp>
      <p:sp>
        <p:nvSpPr>
          <p:cNvPr id="4" name="research banner">
            <a:extLst xmlns:a="http://schemas.openxmlformats.org/drawingml/2006/main">
              <a:ext uri="{FF2B5EF4-FFF2-40B4-BE49-F238E27FC236}">
                <a16:creationId xmlns:a16="http://schemas.microsoft.com/office/drawing/2014/main" id="{1A150115-B8E1-47FC-B2C6-8E1DE425E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1743075"/>
            <a:ext cx="18526125" cy="838200"/>
          </a:xfrm>
          <a:prstGeom xmlns:a="http://schemas.openxmlformats.org/drawingml/2006/main" prst="roundRect">
            <a:avLst>
              <a:gd name="adj" fmla="val 19318"/>
            </a:avLst>
          </a:prstGeom>
          <a:solidFill xmlns:a="http://schemas.openxmlformats.org/drawingml/2006/main">
            <a:srgbClr val="E3EF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research-to-design">
            <a:extLst xmlns:a="http://schemas.openxmlformats.org/drawingml/2006/main">
              <a:ext uri="{FF2B5EF4-FFF2-40B4-BE49-F238E27FC236}">
                <a16:creationId xmlns:a16="http://schemas.microsoft.com/office/drawing/2014/main" id="{ACD4F7C0-3CBB-499E-ABD8-9140126E1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1962150"/>
            <a:ext cx="53816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72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rPr>
              <a:t>FORMATIVE STUDY   →   DESIGN LOGIC</a:t>
            </a:r>
          </a:p>
        </p:txBody>
      </p:sp>
      <p:sp>
        <p:nvSpPr>
          <p:cNvPr id="6" name="banner message">
            <a:extLst xmlns:a="http://schemas.openxmlformats.org/drawingml/2006/main">
              <a:ext uri="{FF2B5EF4-FFF2-40B4-BE49-F238E27FC236}">
                <a16:creationId xmlns:a16="http://schemas.microsoft.com/office/drawing/2014/main" id="{4E55DF5F-88A0-4824-B589-FD5ACBF6D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1914525"/>
            <a:ext cx="11430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550" b="1" i="0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We designed because students asked for it.</a:t>
            </a:r>
          </a:p>
        </p:txBody>
      </p:sp>
      <p:sp>
        <p:nvSpPr>
          <p:cNvPr id="7" name="unify card">
            <a:extLst xmlns:a="http://schemas.openxmlformats.org/drawingml/2006/main">
              <a:ext uri="{FF2B5EF4-FFF2-40B4-BE49-F238E27FC236}">
                <a16:creationId xmlns:a16="http://schemas.microsoft.com/office/drawing/2014/main" id="{41D368BC-DF89-4AFE-8AC4-BE8829943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2819400"/>
            <a:ext cx="5829300" cy="6591300"/>
          </a:xfrm>
          <a:prstGeom xmlns:a="http://schemas.openxmlformats.org/drawingml/2006/main" prst="roundRect">
            <a:avLst>
              <a:gd name="adj" fmla="val 37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5DCD5"/>
            </a:solidFill>
            <a:prstDash val="solid"/>
          </a:ln>
        </p:spPr>
      </p:sp>
      <p:sp>
        <p:nvSpPr>
          <p:cNvPr id="8" name="unify number circle">
            <a:extLst xmlns:a="http://schemas.openxmlformats.org/drawingml/2006/main">
              <a:ext uri="{FF2B5EF4-FFF2-40B4-BE49-F238E27FC236}">
                <a16:creationId xmlns:a16="http://schemas.microsoft.com/office/drawing/2014/main" id="{451E5351-7C86-4901-9D9D-6FFA9480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1467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unify number">
            <a:extLst xmlns:a="http://schemas.openxmlformats.org/drawingml/2006/main">
              <a:ext uri="{FF2B5EF4-FFF2-40B4-BE49-F238E27FC236}">
                <a16:creationId xmlns:a16="http://schemas.microsoft.com/office/drawing/2014/main" id="{23C58918-C0C0-47E1-99D4-2B0E2087F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81350"/>
            <a:ext cx="3524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1</a:t>
            </a:r>
          </a:p>
        </p:txBody>
      </p:sp>
      <p:sp>
        <p:nvSpPr>
          <p:cNvPr id="10" name="unify title">
            <a:extLst xmlns:a="http://schemas.openxmlformats.org/drawingml/2006/main">
              <a:ext uri="{FF2B5EF4-FFF2-40B4-BE49-F238E27FC236}">
                <a16:creationId xmlns:a16="http://schemas.microsoft.com/office/drawing/2014/main" id="{9E58D4C3-7C53-4127-8F94-D17A3F938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67075"/>
            <a:ext cx="430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UNIFY INFO</a:t>
            </a:r>
          </a:p>
        </p:txBody>
      </p:sp>
      <p:sp>
        <p:nvSpPr>
          <p:cNvPr id="11" name="unify problem">
            <a:extLst xmlns:a="http://schemas.openxmlformats.org/drawingml/2006/main">
              <a:ext uri="{FF2B5EF4-FFF2-40B4-BE49-F238E27FC236}">
                <a16:creationId xmlns:a16="http://schemas.microsoft.com/office/drawing/2014/main" id="{DCE855D7-9E83-4CBD-9852-AB5449BFD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42767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Campus information is scattered across different websites, apps, and offices.</a:t>
            </a:r>
          </a:p>
        </p:txBody>
      </p:sp>
      <p:sp>
        <p:nvSpPr>
          <p:cNvPr id="12" name="unify response">
            <a:extLst xmlns:a="http://schemas.openxmlformats.org/drawingml/2006/main">
              <a:ext uri="{FF2B5EF4-FFF2-40B4-BE49-F238E27FC236}">
                <a16:creationId xmlns:a16="http://schemas.microsoft.com/office/drawing/2014/main" id="{798915D4-1CB6-42FD-9692-6548361C3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372100"/>
            <a:ext cx="5067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rPr>
              <a:t>→ One place to find connected campus information</a:t>
            </a:r>
          </a:p>
        </p:txBody>
      </p:sp>
      <p:sp>
        <p:nvSpPr>
          <p:cNvPr id="13" name="unify student label">
            <a:extLst xmlns:a="http://schemas.openxmlformats.org/drawingml/2006/main">
              <a:ext uri="{FF2B5EF4-FFF2-40B4-BE49-F238E27FC236}">
                <a16:creationId xmlns:a16="http://schemas.microsoft.com/office/drawing/2014/main" id="{7049F21F-A513-4EA0-B144-3837F867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048375"/>
            <a:ext cx="495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STUDENTS SAY</a:t>
            </a:r>
          </a:p>
        </p:txBody>
      </p:sp>
      <p:sp>
        <p:nvSpPr>
          <p:cNvPr id="14" name="unify quote background 1">
            <a:extLst xmlns:a="http://schemas.openxmlformats.org/drawingml/2006/main">
              <a:ext uri="{FF2B5EF4-FFF2-40B4-BE49-F238E27FC236}">
                <a16:creationId xmlns:a16="http://schemas.microsoft.com/office/drawing/2014/main" id="{C6F5832B-0DFD-4B98-AC56-7EA088FFC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6419850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1EB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unify quote 1">
            <a:extLst xmlns:a="http://schemas.openxmlformats.org/drawingml/2006/main">
              <a:ext uri="{FF2B5EF4-FFF2-40B4-BE49-F238E27FC236}">
                <a16:creationId xmlns:a16="http://schemas.microsoft.com/office/drawing/2014/main" id="{B6D06001-6551-4307-860D-BD4180FE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486525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“Shuttles, emergency contacts, housing, and portals all live in different places.”</a:t>
            </a:r>
          </a:p>
        </p:txBody>
      </p:sp>
      <p:sp>
        <p:nvSpPr>
          <p:cNvPr id="16" name="unify segment 1">
            <a:extLst xmlns:a="http://schemas.openxmlformats.org/drawingml/2006/main">
              <a:ext uri="{FF2B5EF4-FFF2-40B4-BE49-F238E27FC236}">
                <a16:creationId xmlns:a16="http://schemas.microsoft.com/office/drawing/2014/main" id="{9C3FE338-8234-4B6C-8944-CCC63AB6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7058025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P08_M015</a:t>
            </a:r>
          </a:p>
        </p:txBody>
      </p:sp>
      <p:sp>
        <p:nvSpPr>
          <p:cNvPr id="17" name="unify quote background 2">
            <a:extLst xmlns:a="http://schemas.openxmlformats.org/drawingml/2006/main">
              <a:ext uri="{FF2B5EF4-FFF2-40B4-BE49-F238E27FC236}">
                <a16:creationId xmlns:a16="http://schemas.microsoft.com/office/drawing/2014/main" id="{39794ACC-09FD-4FB2-982E-FB2C8A29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7362825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C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unify quote 2">
            <a:extLst xmlns:a="http://schemas.openxmlformats.org/drawingml/2006/main">
              <a:ext uri="{FF2B5EF4-FFF2-40B4-BE49-F238E27FC236}">
                <a16:creationId xmlns:a16="http://schemas.microsoft.com/office/drawing/2014/main" id="{1777801B-CD9E-400E-9493-824706846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429500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“For research talks and faculty projects, I search emails and department pages. I want one place to ask.”</a:t>
            </a:r>
          </a:p>
        </p:txBody>
      </p:sp>
      <p:sp>
        <p:nvSpPr>
          <p:cNvPr id="19" name="unify segment 2">
            <a:extLst xmlns:a="http://schemas.openxmlformats.org/drawingml/2006/main">
              <a:ext uri="{FF2B5EF4-FFF2-40B4-BE49-F238E27FC236}">
                <a16:creationId xmlns:a16="http://schemas.microsoft.com/office/drawing/2014/main" id="{813CAC60-2668-4376-A865-86593FFD1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8001000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P05_M022</a:t>
            </a:r>
          </a:p>
        </p:txBody>
      </p:sp>
      <p:sp>
        <p:nvSpPr>
          <p:cNvPr id="20" name="unify quote background 3">
            <a:extLst xmlns:a="http://schemas.openxmlformats.org/drawingml/2006/main">
              <a:ext uri="{FF2B5EF4-FFF2-40B4-BE49-F238E27FC236}">
                <a16:creationId xmlns:a16="http://schemas.microsoft.com/office/drawing/2014/main" id="{99B3E23B-5471-44CF-9188-5E04DC5E6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8305800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1EB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unify quote 3">
            <a:extLst xmlns:a="http://schemas.openxmlformats.org/drawingml/2006/main">
              <a:ext uri="{FF2B5EF4-FFF2-40B4-BE49-F238E27FC236}">
                <a16:creationId xmlns:a16="http://schemas.microsoft.com/office/drawing/2014/main" id="{FC6C5BCC-2CC0-4ECA-A4FD-87875A87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8372475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“I need PassioGo and RIPTA separately, even when I am planning one trip.”</a:t>
            </a:r>
          </a:p>
        </p:txBody>
      </p:sp>
      <p:sp>
        <p:nvSpPr>
          <p:cNvPr id="22" name="unify segment 3">
            <a:extLst xmlns:a="http://schemas.openxmlformats.org/drawingml/2006/main">
              <a:ext uri="{FF2B5EF4-FFF2-40B4-BE49-F238E27FC236}">
                <a16:creationId xmlns:a16="http://schemas.microsoft.com/office/drawing/2014/main" id="{4A8D9401-921B-4245-98FC-BE9E20EA4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8943975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P06_M005</a:t>
            </a:r>
          </a:p>
        </p:txBody>
      </p:sp>
      <p:sp>
        <p:nvSpPr>
          <p:cNvPr id="23" name="task card">
            <a:extLst xmlns:a="http://schemas.openxmlformats.org/drawingml/2006/main">
              <a:ext uri="{FF2B5EF4-FFF2-40B4-BE49-F238E27FC236}">
                <a16:creationId xmlns:a16="http://schemas.microsoft.com/office/drawing/2014/main" id="{00FAE3A5-716A-4EE0-B78D-5CACD9385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19400"/>
            <a:ext cx="5829300" cy="6591300"/>
          </a:xfrm>
          <a:prstGeom xmlns:a="http://schemas.openxmlformats.org/drawingml/2006/main" prst="roundRect">
            <a:avLst>
              <a:gd name="adj" fmla="val 37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5DCD5"/>
            </a:solidFill>
            <a:prstDash val="solid"/>
          </a:ln>
        </p:spPr>
      </p:sp>
      <p:sp>
        <p:nvSpPr>
          <p:cNvPr id="24" name="task number circle">
            <a:extLst xmlns:a="http://schemas.openxmlformats.org/drawingml/2006/main">
              <a:ext uri="{FF2B5EF4-FFF2-40B4-BE49-F238E27FC236}">
                <a16:creationId xmlns:a16="http://schemas.microsoft.com/office/drawing/2014/main" id="{902B5A2E-615E-407E-9225-8D351D4C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1467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task number">
            <a:extLst xmlns:a="http://schemas.openxmlformats.org/drawingml/2006/main">
              <a:ext uri="{FF2B5EF4-FFF2-40B4-BE49-F238E27FC236}">
                <a16:creationId xmlns:a16="http://schemas.microsoft.com/office/drawing/2014/main" id="{1C1EF6C2-2D21-4FF5-BF85-E5DAA6F7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81350"/>
            <a:ext cx="3524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2</a:t>
            </a:r>
          </a:p>
        </p:txBody>
      </p:sp>
      <p:sp>
        <p:nvSpPr>
          <p:cNvPr id="26" name="task title">
            <a:extLst xmlns:a="http://schemas.openxmlformats.org/drawingml/2006/main">
              <a:ext uri="{FF2B5EF4-FFF2-40B4-BE49-F238E27FC236}">
                <a16:creationId xmlns:a16="http://schemas.microsoft.com/office/drawing/2014/main" id="{1CF73630-B3AA-4611-A5E0-7A00C6F5E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267075"/>
            <a:ext cx="430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COMPLETE TASKS</a:t>
            </a:r>
          </a:p>
        </p:txBody>
      </p:sp>
      <p:sp>
        <p:nvSpPr>
          <p:cNvPr id="27" name="task problem">
            <a:extLst xmlns:a="http://schemas.openxmlformats.org/drawingml/2006/main">
              <a:ext uri="{FF2B5EF4-FFF2-40B4-BE49-F238E27FC236}">
                <a16:creationId xmlns:a16="http://schemas.microsoft.com/office/drawing/2014/main" id="{69CBDD91-2D62-40AA-BB9F-DD805483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2767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Students need help coordinating steps and people to reach a finished outcome.</a:t>
            </a:r>
          </a:p>
        </p:txBody>
      </p:sp>
      <p:sp>
        <p:nvSpPr>
          <p:cNvPr id="28" name="task response">
            <a:extLst xmlns:a="http://schemas.openxmlformats.org/drawingml/2006/main">
              <a:ext uri="{FF2B5EF4-FFF2-40B4-BE49-F238E27FC236}">
                <a16:creationId xmlns:a16="http://schemas.microsoft.com/office/drawing/2014/main" id="{FAD529C5-352F-439C-9547-20F6AAAF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372100"/>
            <a:ext cx="5067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rPr>
              <a:t>→ Coordinated planning and follow-through</a:t>
            </a:r>
          </a:p>
        </p:txBody>
      </p:sp>
      <p:sp>
        <p:nvSpPr>
          <p:cNvPr id="29" name="task student label">
            <a:extLst xmlns:a="http://schemas.openxmlformats.org/drawingml/2006/main">
              <a:ext uri="{FF2B5EF4-FFF2-40B4-BE49-F238E27FC236}">
                <a16:creationId xmlns:a16="http://schemas.microsoft.com/office/drawing/2014/main" id="{9B23599F-653F-4FCA-9DCB-05CF4E83A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048375"/>
            <a:ext cx="495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STUDENTS SAY</a:t>
            </a:r>
          </a:p>
        </p:txBody>
      </p:sp>
      <p:sp>
        <p:nvSpPr>
          <p:cNvPr id="30" name="task quote background 1">
            <a:extLst xmlns:a="http://schemas.openxmlformats.org/drawingml/2006/main">
              <a:ext uri="{FF2B5EF4-FFF2-40B4-BE49-F238E27FC236}">
                <a16:creationId xmlns:a16="http://schemas.microsoft.com/office/drawing/2014/main" id="{6C548D10-A51B-427C-A4E5-F7B744DF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6419850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1EB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task quote 1">
            <a:extLst xmlns:a="http://schemas.openxmlformats.org/drawingml/2006/main">
              <a:ext uri="{FF2B5EF4-FFF2-40B4-BE49-F238E27FC236}">
                <a16:creationId xmlns:a16="http://schemas.microsoft.com/office/drawing/2014/main" id="{CBFABEA0-CCAF-44F4-AFD1-99987FBE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6486525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“To arrange a TA meeting, I collect everyone’s availability, then try a separate site to book a room.”</a:t>
            </a:r>
          </a:p>
        </p:txBody>
      </p:sp>
      <p:sp>
        <p:nvSpPr>
          <p:cNvPr id="32" name="task segment 1">
            <a:extLst xmlns:a="http://schemas.openxmlformats.org/drawingml/2006/main">
              <a:ext uri="{FF2B5EF4-FFF2-40B4-BE49-F238E27FC236}">
                <a16:creationId xmlns:a16="http://schemas.microsoft.com/office/drawing/2014/main" id="{DF8CD43B-77FB-493C-980B-06823F5DD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7058025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P07_M018</a:t>
            </a:r>
          </a:p>
        </p:txBody>
      </p:sp>
      <p:sp>
        <p:nvSpPr>
          <p:cNvPr id="33" name="task quote background 2">
            <a:extLst xmlns:a="http://schemas.openxmlformats.org/drawingml/2006/main">
              <a:ext uri="{FF2B5EF4-FFF2-40B4-BE49-F238E27FC236}">
                <a16:creationId xmlns:a16="http://schemas.microsoft.com/office/drawing/2014/main" id="{391D4DC3-BA86-4DFE-921A-BB62C27A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7362825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C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task quote 2">
            <a:extLst xmlns:a="http://schemas.openxmlformats.org/drawingml/2006/main">
              <a:ext uri="{FF2B5EF4-FFF2-40B4-BE49-F238E27FC236}">
                <a16:creationId xmlns:a16="http://schemas.microsoft.com/office/drawing/2014/main" id="{92AD3508-2051-4595-AE60-E762AE2C3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7429500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“After finding an event, I still check the deadline, compare my calendar, and add it myself.”</a:t>
            </a:r>
          </a:p>
        </p:txBody>
      </p:sp>
      <p:sp>
        <p:nvSpPr>
          <p:cNvPr id="35" name="task segment 2">
            <a:extLst xmlns:a="http://schemas.openxmlformats.org/drawingml/2006/main">
              <a:ext uri="{FF2B5EF4-FFF2-40B4-BE49-F238E27FC236}">
                <a16:creationId xmlns:a16="http://schemas.microsoft.com/office/drawing/2014/main" id="{91E88FCE-F702-4E26-9931-7AA3F8D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8001000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P05_M013</a:t>
            </a:r>
          </a:p>
        </p:txBody>
      </p:sp>
      <p:sp>
        <p:nvSpPr>
          <p:cNvPr id="36" name="task quote background 3">
            <a:extLst xmlns:a="http://schemas.openxmlformats.org/drawingml/2006/main">
              <a:ext uri="{FF2B5EF4-FFF2-40B4-BE49-F238E27FC236}">
                <a16:creationId xmlns:a16="http://schemas.microsoft.com/office/drawing/2014/main" id="{B966C69E-AB11-4854-8667-DF4D5C441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8305800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1EB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task quote 3">
            <a:extLst xmlns:a="http://schemas.openxmlformats.org/drawingml/2006/main">
              <a:ext uri="{FF2B5EF4-FFF2-40B4-BE49-F238E27FC236}">
                <a16:creationId xmlns:a16="http://schemas.microsoft.com/office/drawing/2014/main" id="{55F9831C-C8B1-4B87-A2AC-AC929B28F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8372475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“Organizing a student event involves registration, spaces, and campus approval rules.”</a:t>
            </a:r>
          </a:p>
        </p:txBody>
      </p:sp>
      <p:sp>
        <p:nvSpPr>
          <p:cNvPr id="38" name="task segment 3">
            <a:extLst xmlns:a="http://schemas.openxmlformats.org/drawingml/2006/main">
              <a:ext uri="{FF2B5EF4-FFF2-40B4-BE49-F238E27FC236}">
                <a16:creationId xmlns:a16="http://schemas.microsoft.com/office/drawing/2014/main" id="{1240AAF2-A7CF-4BE1-B712-2998E93C7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8925" y="8943975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P02_M015</a:t>
            </a:r>
          </a:p>
        </p:txBody>
      </p:sp>
      <p:sp>
        <p:nvSpPr>
          <p:cNvPr id="39" name="time card">
            <a:extLst xmlns:a="http://schemas.openxmlformats.org/drawingml/2006/main">
              <a:ext uri="{FF2B5EF4-FFF2-40B4-BE49-F238E27FC236}">
                <a16:creationId xmlns:a16="http://schemas.microsoft.com/office/drawing/2014/main" id="{5BB61CB8-7EC2-4A83-B1C3-78E48E68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2819400"/>
            <a:ext cx="5829300" cy="6591300"/>
          </a:xfrm>
          <a:prstGeom xmlns:a="http://schemas.openxmlformats.org/drawingml/2006/main" prst="roundRect">
            <a:avLst>
              <a:gd name="adj" fmla="val 375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E5DCD5"/>
            </a:solidFill>
            <a:prstDash val="solid"/>
          </a:ln>
        </p:spPr>
      </p:sp>
      <p:sp>
        <p:nvSpPr>
          <p:cNvPr id="40" name="time number circle">
            <a:extLst xmlns:a="http://schemas.openxmlformats.org/drawingml/2006/main">
              <a:ext uri="{FF2B5EF4-FFF2-40B4-BE49-F238E27FC236}">
                <a16:creationId xmlns:a16="http://schemas.microsoft.com/office/drawing/2014/main" id="{586596DC-9F9E-4B32-8F73-9133D520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1650" y="3114675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time number">
            <a:extLst xmlns:a="http://schemas.openxmlformats.org/drawingml/2006/main">
              <a:ext uri="{FF2B5EF4-FFF2-40B4-BE49-F238E27FC236}">
                <a16:creationId xmlns:a16="http://schemas.microsoft.com/office/drawing/2014/main" id="{C95A0BD0-1521-40D9-B842-040D26A1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1675" y="3181350"/>
            <a:ext cx="3524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ctr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ctr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3</a:t>
            </a:r>
          </a:p>
        </p:txBody>
      </p:sp>
      <p:sp>
        <p:nvSpPr>
          <p:cNvPr id="42" name="time title">
            <a:extLst xmlns:a="http://schemas.openxmlformats.org/drawingml/2006/main">
              <a:ext uri="{FF2B5EF4-FFF2-40B4-BE49-F238E27FC236}">
                <a16:creationId xmlns:a16="http://schemas.microsoft.com/office/drawing/2014/main" id="{421464A8-BEB0-473E-A46C-28F4AD237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30350" y="3267075"/>
            <a:ext cx="43053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270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SAVE TIME</a:t>
            </a:r>
          </a:p>
        </p:txBody>
      </p:sp>
      <p:sp>
        <p:nvSpPr>
          <p:cNvPr id="43" name="time problem">
            <a:extLst xmlns:a="http://schemas.openxmlformats.org/drawingml/2006/main">
              <a:ext uri="{FF2B5EF4-FFF2-40B4-BE49-F238E27FC236}">
                <a16:creationId xmlns:a16="http://schemas.microsoft.com/office/drawing/2014/main" id="{E3DD91E5-E408-490E-98BC-D74946145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4525" y="42767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6000"/>
              </a:lnSpc>
              <a:buNone/>
              <a:def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2033" b="0" i="0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Repeated checking and trial and error turn simple tasks into extra work.</a:t>
            </a:r>
          </a:p>
        </p:txBody>
      </p:sp>
      <p:sp>
        <p:nvSpPr>
          <p:cNvPr id="44" name="time response">
            <a:extLst xmlns:a="http://schemas.openxmlformats.org/drawingml/2006/main">
              <a:ext uri="{FF2B5EF4-FFF2-40B4-BE49-F238E27FC236}">
                <a16:creationId xmlns:a16="http://schemas.microsoft.com/office/drawing/2014/main" id="{1A1D9D2F-F990-4051-9729-1A59BE63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4525" y="5372100"/>
            <a:ext cx="5067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defRPr>
            </a:pPr>
            <a:r>
              <a:rPr sz="1665" b="1" i="0">
                <a:solidFill>
                  <a:srgbClr val="206E65"/>
                </a:solidFill>
                <a:latin typeface="Nimbus Sans"/>
                <a:ea typeface="Nimbus Sans"/>
                <a:cs typeface="Nimbus Sans"/>
              </a:rPr>
              <a:t>→ Fewer repetitive steps and avoidable checks</a:t>
            </a:r>
          </a:p>
        </p:txBody>
      </p:sp>
      <p:sp>
        <p:nvSpPr>
          <p:cNvPr id="45" name="time student label">
            <a:extLst xmlns:a="http://schemas.openxmlformats.org/drawingml/2006/main">
              <a:ext uri="{FF2B5EF4-FFF2-40B4-BE49-F238E27FC236}">
                <a16:creationId xmlns:a16="http://schemas.microsoft.com/office/drawing/2014/main" id="{BC21DAFB-B1D5-43B3-A599-41E0F193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4525" y="6048375"/>
            <a:ext cx="495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defRPr>
            </a:pPr>
            <a:r>
              <a:rPr sz="1350" b="1" i="0">
                <a:solidFill>
                  <a:srgbClr val="643545"/>
                </a:solidFill>
                <a:latin typeface="Nimbus Sans"/>
                <a:ea typeface="Nimbus Sans"/>
                <a:cs typeface="Nimbus Sans"/>
              </a:rPr>
              <a:t>STUDENTS SAY</a:t>
            </a:r>
          </a:p>
        </p:txBody>
      </p:sp>
      <p:sp>
        <p:nvSpPr>
          <p:cNvPr id="46" name="time quote background 1">
            <a:extLst xmlns:a="http://schemas.openxmlformats.org/drawingml/2006/main">
              <a:ext uri="{FF2B5EF4-FFF2-40B4-BE49-F238E27FC236}">
                <a16:creationId xmlns:a16="http://schemas.microsoft.com/office/drawing/2014/main" id="{3868A705-6C47-4D5B-9DD7-42D93A246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4525" y="6419850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1EB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time quote 1">
            <a:extLst xmlns:a="http://schemas.openxmlformats.org/drawingml/2006/main">
              <a:ext uri="{FF2B5EF4-FFF2-40B4-BE49-F238E27FC236}">
                <a16:creationId xmlns:a16="http://schemas.microsoft.com/office/drawing/2014/main" id="{F7D4BA8C-60A6-4420-91A5-D3D1C9AB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6450" y="6486525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“To book a Lindemann room, I test each possible hour in Google Calendar one by one.”</a:t>
            </a:r>
          </a:p>
        </p:txBody>
      </p:sp>
      <p:sp>
        <p:nvSpPr>
          <p:cNvPr id="48" name="time segment 1">
            <a:extLst xmlns:a="http://schemas.openxmlformats.org/drawingml/2006/main">
              <a:ext uri="{FF2B5EF4-FFF2-40B4-BE49-F238E27FC236}">
                <a16:creationId xmlns:a16="http://schemas.microsoft.com/office/drawing/2014/main" id="{460234C9-E55A-4DA3-90D8-9FD7FBB0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2100" y="7058025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P04_M020</a:t>
            </a:r>
          </a:p>
        </p:txBody>
      </p:sp>
      <p:sp>
        <p:nvSpPr>
          <p:cNvPr id="49" name="time quote background 2">
            <a:extLst xmlns:a="http://schemas.openxmlformats.org/drawingml/2006/main">
              <a:ext uri="{FF2B5EF4-FFF2-40B4-BE49-F238E27FC236}">
                <a16:creationId xmlns:a16="http://schemas.microsoft.com/office/drawing/2014/main" id="{7BD14C0C-51BF-4C3B-BD06-71965A80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4525" y="7362825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CF0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time quote 2">
            <a:extLst xmlns:a="http://schemas.openxmlformats.org/drawingml/2006/main">
              <a:ext uri="{FF2B5EF4-FFF2-40B4-BE49-F238E27FC236}">
                <a16:creationId xmlns:a16="http://schemas.microsoft.com/office/drawing/2014/main" id="{A198AC6F-9304-4BDA-9DCB-13782FA95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6450" y="7429500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“Checking ingredients for every dish gets tedious. I want suitable meals highlighted automatically.”</a:t>
            </a:r>
          </a:p>
        </p:txBody>
      </p:sp>
      <p:sp>
        <p:nvSpPr>
          <p:cNvPr id="51" name="time segment 2">
            <a:extLst xmlns:a="http://schemas.openxmlformats.org/drawingml/2006/main">
              <a:ext uri="{FF2B5EF4-FFF2-40B4-BE49-F238E27FC236}">
                <a16:creationId xmlns:a16="http://schemas.microsoft.com/office/drawing/2014/main" id="{286E235D-21CD-4D8B-B71C-C1D4DA83C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2100" y="8001000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P06_M022</a:t>
            </a:r>
          </a:p>
        </p:txBody>
      </p:sp>
      <p:sp>
        <p:nvSpPr>
          <p:cNvPr id="52" name="time quote background 3">
            <a:extLst xmlns:a="http://schemas.openxmlformats.org/drawingml/2006/main">
              <a:ext uri="{FF2B5EF4-FFF2-40B4-BE49-F238E27FC236}">
                <a16:creationId xmlns:a16="http://schemas.microsoft.com/office/drawing/2014/main" id="{41876358-9F4E-458C-B677-A7ECFFBE2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44525" y="8305800"/>
            <a:ext cx="4876800" cy="838200"/>
          </a:xfrm>
          <a:prstGeom xmlns:a="http://schemas.openxmlformats.org/drawingml/2006/main" prst="roundRect">
            <a:avLst>
              <a:gd name="adj" fmla="val 17045"/>
            </a:avLst>
          </a:prstGeom>
          <a:solidFill xmlns:a="http://schemas.openxmlformats.org/drawingml/2006/main">
            <a:srgbClr val="F1EB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time quote 3">
            <a:extLst xmlns:a="http://schemas.openxmlformats.org/drawingml/2006/main">
              <a:ext uri="{FF2B5EF4-FFF2-40B4-BE49-F238E27FC236}">
                <a16:creationId xmlns:a16="http://schemas.microsoft.com/office/drawing/2014/main" id="{8FAF1810-9836-48A7-B4A9-1F644E8B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6450" y="8372475"/>
            <a:ext cx="45434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1000"/>
              </a:lnSpc>
              <a:buNone/>
              <a:def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defRPr>
            </a:pPr>
            <a:r>
              <a:rPr sz="1538" b="0" i="1">
                <a:solidFill>
                  <a:srgbClr val="27333B"/>
                </a:solidFill>
                <a:latin typeface="Nimbus Sans"/>
                <a:ea typeface="Nimbus Sans"/>
                <a:cs typeface="Nimbus Sans"/>
              </a:rPr>
              <a:t>“I keep watching full classes for a seat to open. The window can be brief.”</a:t>
            </a:r>
          </a:p>
        </p:txBody>
      </p:sp>
      <p:sp>
        <p:nvSpPr>
          <p:cNvPr id="54" name="time segment 3">
            <a:extLst xmlns:a="http://schemas.openxmlformats.org/drawingml/2006/main">
              <a:ext uri="{FF2B5EF4-FFF2-40B4-BE49-F238E27FC236}">
                <a16:creationId xmlns:a16="http://schemas.microsoft.com/office/drawing/2014/main" id="{C00432E1-EB15-4CCE-B097-92C00E8C0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2100" y="8943975"/>
            <a:ext cx="12382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defPPr>
            <a:lvl1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1pPr>
            <a:lvl2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2pPr>
            <a:lvl3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3pPr>
            <a:lvl4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4pPr>
            <a:lvl5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5pPr>
            <a:lvl6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6pPr>
            <a:lvl7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7pPr>
            <a:lvl8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8pPr>
            <a:lvl9pPr algn="r"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r">
              <a:lnSpc>
                <a:spcPct val="102000"/>
              </a:lnSpc>
              <a:buNone/>
              <a:def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defRPr>
            </a:pPr>
            <a:r>
              <a:rPr sz="1035" b="1" i="0">
                <a:solidFill>
                  <a:srgbClr val="62717A"/>
                </a:solidFill>
                <a:latin typeface="Nimbus Sans"/>
                <a:ea typeface="Nimbus Sans"/>
                <a:cs typeface="Nimbus Sans"/>
              </a:rPr>
              <a:t>P02_M002</a:t>
            </a:r>
          </a:p>
        </p:txBody>
      </p:sp>
      <p:sp>
        <p:nvSpPr>
          <p:cNvPr id="55" name="responsible use footer">
            <a:extLst xmlns:a="http://schemas.openxmlformats.org/drawingml/2006/main">
              <a:ext uri="{FF2B5EF4-FFF2-40B4-BE49-F238E27FC236}">
                <a16:creationId xmlns:a16="http://schemas.microsoft.com/office/drawing/2014/main" id="{E3414E1F-F366-4553-BAE9-314BB963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" y="9582150"/>
            <a:ext cx="18526125" cy="2152650"/>
          </a:xfrm>
          <a:prstGeom xmlns:a="http://schemas.openxmlformats.org/drawingml/2006/main" prst="roundRect">
            <a:avLst>
              <a:gd name="adj" fmla="val 6195"/>
            </a:avLst>
          </a:prstGeom>
          <a:solidFill xmlns:a="http://schemas.openxmlformats.org/drawingml/2006/main">
            <a:srgbClr val="6435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responsible use heading">
            <a:extLst xmlns:a="http://schemas.openxmlformats.org/drawingml/2006/main">
              <a:ext uri="{FF2B5EF4-FFF2-40B4-BE49-F238E27FC236}">
                <a16:creationId xmlns:a16="http://schemas.microsoft.com/office/drawing/2014/main" id="{AE376312-C0B3-4F35-8FEE-B286BFDA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9715500"/>
            <a:ext cx="1581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2400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RESPONSIBLE USE of AI</a:t>
            </a:r>
          </a:p>
        </p:txBody>
      </p:sp>
      <p:sp>
        <p:nvSpPr>
          <p:cNvPr id="57" name="responsible use divider">
            <a:extLst xmlns:a="http://schemas.openxmlformats.org/drawingml/2006/main">
              <a:ext uri="{FF2B5EF4-FFF2-40B4-BE49-F238E27FC236}">
                <a16:creationId xmlns:a16="http://schemas.microsoft.com/office/drawing/2014/main" id="{3D950A2F-CC7D-4E22-9F5A-968076622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239375"/>
            <a:ext cx="17868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36E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source trust heading">
            <a:extLst xmlns:a="http://schemas.openxmlformats.org/drawingml/2006/main">
              <a:ext uri="{FF2B5EF4-FFF2-40B4-BE49-F238E27FC236}">
                <a16:creationId xmlns:a16="http://schemas.microsoft.com/office/drawing/2014/main" id="{FA2B7EF6-E0F6-4E19-9139-8D1CBAE24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363200"/>
            <a:ext cx="5791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SOURCE-LINKED ANSWERS</a:t>
            </a:r>
          </a:p>
        </p:txBody>
      </p:sp>
      <p:sp>
        <p:nvSpPr>
          <p:cNvPr id="59" name="source trust quote">
            <a:extLst xmlns:a="http://schemas.openxmlformats.org/drawingml/2006/main">
              <a:ext uri="{FF2B5EF4-FFF2-40B4-BE49-F238E27FC236}">
                <a16:creationId xmlns:a16="http://schemas.microsoft.com/office/drawing/2014/main" id="{752A7D08-59BA-437E-909D-890F9E492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0744200"/>
            <a:ext cx="5724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rPr>
              <a:t>“I would trust an answer more if it linked to the original Brown page.”</a:t>
            </a:r>
          </a:p>
        </p:txBody>
      </p:sp>
      <p:sp>
        <p:nvSpPr>
          <p:cNvPr id="60" name="source trust citation">
            <a:extLst xmlns:a="http://schemas.openxmlformats.org/drawingml/2006/main">
              <a:ext uri="{FF2B5EF4-FFF2-40B4-BE49-F238E27FC236}">
                <a16:creationId xmlns:a16="http://schemas.microsoft.com/office/drawing/2014/main" id="{B721344B-D87D-4476-AC35-EE9F81436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1382375"/>
            <a:ext cx="57245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rPr>
              <a:t>P03_M035</a:t>
            </a:r>
          </a:p>
        </p:txBody>
      </p:sp>
      <p:sp>
        <p:nvSpPr>
          <p:cNvPr id="61" name="current trust heading">
            <a:extLst xmlns:a="http://schemas.openxmlformats.org/drawingml/2006/main">
              <a:ext uri="{FF2B5EF4-FFF2-40B4-BE49-F238E27FC236}">
                <a16:creationId xmlns:a16="http://schemas.microsoft.com/office/drawing/2014/main" id="{02BB2D8D-A341-4A48-958E-F6FB8B5D7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0363200"/>
            <a:ext cx="5791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CHECKABLE, CURRENT INFORMATION</a:t>
            </a:r>
          </a:p>
        </p:txBody>
      </p:sp>
      <p:sp>
        <p:nvSpPr>
          <p:cNvPr id="62" name="current trust quote">
            <a:extLst xmlns:a="http://schemas.openxmlformats.org/drawingml/2006/main">
              <a:ext uri="{FF2B5EF4-FFF2-40B4-BE49-F238E27FC236}">
                <a16:creationId xmlns:a16="http://schemas.microsoft.com/office/drawing/2014/main" id="{E4B9973B-481D-42A6-AF0D-E38D3913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0744200"/>
            <a:ext cx="5724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rPr>
              <a:t>“An official-looking page might describe a project that ended years ago.”</a:t>
            </a:r>
          </a:p>
        </p:txBody>
      </p:sp>
      <p:sp>
        <p:nvSpPr>
          <p:cNvPr id="63" name="current trust citation">
            <a:extLst xmlns:a="http://schemas.openxmlformats.org/drawingml/2006/main">
              <a:ext uri="{FF2B5EF4-FFF2-40B4-BE49-F238E27FC236}">
                <a16:creationId xmlns:a16="http://schemas.microsoft.com/office/drawing/2014/main" id="{023A2347-1E74-4B5A-B942-091DBCB6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1382375"/>
            <a:ext cx="57245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rPr>
              <a:t>P07_M029</a:t>
            </a:r>
          </a:p>
        </p:txBody>
      </p:sp>
      <p:sp>
        <p:nvSpPr>
          <p:cNvPr id="64" name="control trust heading">
            <a:extLst xmlns:a="http://schemas.openxmlformats.org/drawingml/2006/main">
              <a:ext uri="{FF2B5EF4-FFF2-40B4-BE49-F238E27FC236}">
                <a16:creationId xmlns:a16="http://schemas.microsoft.com/office/drawing/2014/main" id="{99813F2C-03D1-4A15-B1A5-37940EE13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10363200"/>
            <a:ext cx="57912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defRPr>
            </a:pPr>
            <a:r>
              <a:rPr sz="1545" b="1" i="0">
                <a:solidFill>
                  <a:srgbClr val="FFFFFF"/>
                </a:solidFill>
                <a:latin typeface="Nimbus Sans"/>
                <a:ea typeface="Nimbus Sans"/>
                <a:cs typeface="Nimbus Sans"/>
              </a:rPr>
              <a:t>USER CONTROL OVER PLANS</a:t>
            </a:r>
          </a:p>
        </p:txBody>
      </p:sp>
      <p:sp>
        <p:nvSpPr>
          <p:cNvPr id="65" name="control trust quote">
            <a:extLst xmlns:a="http://schemas.openxmlformats.org/drawingml/2006/main">
              <a:ext uri="{FF2B5EF4-FFF2-40B4-BE49-F238E27FC236}">
                <a16:creationId xmlns:a16="http://schemas.microsoft.com/office/drawing/2014/main" id="{C0E117C1-EEF3-4468-A2FD-6D147420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10744200"/>
            <a:ext cx="57245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defRPr>
            </a:pPr>
            <a:r>
              <a:rPr sz="1583" b="0" i="1">
                <a:solidFill>
                  <a:srgbClr val="F9F6F5"/>
                </a:solidFill>
                <a:latin typeface="Nimbus Sans"/>
                <a:ea typeface="Nimbus Sans"/>
                <a:cs typeface="Nimbus Sans"/>
              </a:rPr>
              <a:t>“Let the chatbot propose a course plan, but I want to decide and register myself.”</a:t>
            </a:r>
          </a:p>
        </p:txBody>
      </p:sp>
      <p:sp>
        <p:nvSpPr>
          <p:cNvPr id="66" name="control trust citation">
            <a:extLst xmlns:a="http://schemas.openxmlformats.org/drawingml/2006/main">
              <a:ext uri="{FF2B5EF4-FFF2-40B4-BE49-F238E27FC236}">
                <a16:creationId xmlns:a16="http://schemas.microsoft.com/office/drawing/2014/main" id="{70EA4280-2A88-4CE2-8375-BBEF6A033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11382375"/>
            <a:ext cx="57245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>
            <a:def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defPPr>
            <a:lvl1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1pPr>
            <a:lvl2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2pPr>
            <a:lvl3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3pPr>
            <a:lvl4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4pPr>
            <a:lvl5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5pPr>
            <a:lvl6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6pPr>
            <a:lvl7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7pPr>
            <a:lvl8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8pPr>
            <a:lvl9pPr algn="l"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lvl9pPr>
          </a:lstStyle>
          <a:p xmlns:a="http://schemas.openxmlformats.org/drawingml/2006/main">
            <a:pPr algn="l">
              <a:lnSpc>
                <a:spcPct val="102000"/>
              </a:lnSpc>
              <a:buNone/>
              <a:def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defRPr>
            </a:pPr>
            <a:r>
              <a:rPr sz="1148" b="1" i="0">
                <a:solidFill>
                  <a:srgbClr val="F0E4E7"/>
                </a:solidFill>
                <a:latin typeface="Nimbus Sans"/>
                <a:ea typeface="Nimbus Sans"/>
                <a:cs typeface="Nimbus Sans"/>
              </a:rPr>
              <a:t>P03_M036</a:t>
            </a:r>
          </a:p>
        </p:txBody>
      </p:sp>
    </p:spTree>
    <p:extLst>
      <p:ext uri="{BB962C8B-B14F-4D97-AF65-F5344CB8AC3E}">
        <p14:creationId xmlns:p14="http://schemas.microsoft.com/office/powerpoint/2010/main" val="16250791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2026-10-24T23:47:29.6570000Z</dcterms:created>
  <dcterms:modified xsi:type="dcterms:W3CDTF">2026-10-24T23:47:29.6580000Z</dcterms:modified>
</coreProperties>
</file>
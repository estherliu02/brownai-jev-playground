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9192875" cy="11887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9" d="100"/>
          <a:sy n="69" d="100"/>
        </p:scale>
        <p:origin x="7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151AB8D-BEAA-4C5E-8A66-C68A8E50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4490720"/>
            <a:ext cx="15354300" cy="17170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74C4C7D-B64A-4330-9780-BFA53C8EB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8931" y="6537960"/>
            <a:ext cx="13435013" cy="132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B510C7E-E150-4F83-808E-96114CC2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4953000"/>
            <a:ext cx="15354300" cy="1981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60196F0-77FA-45C6-A383-9FB71A7D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99" y="924560"/>
            <a:ext cx="17033677" cy="1452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B20D1CD-D847-4DF6-BC22-7D177492D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99" y="3302000"/>
            <a:ext cx="17033677" cy="73964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59AED94-560C-4618-9604-7A37E806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99" y="924560"/>
            <a:ext cx="17033677" cy="1452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A4328FD-2FAD-4193-8D5F-7630482A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99" y="3302000"/>
            <a:ext cx="7917061" cy="73964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56F3050-07E4-46D2-B01E-301CE06593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196215" y="3302000"/>
            <a:ext cx="7917061" cy="73964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4AA8BCD-3F88-4490-AAA0-FE82F6E6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99" y="924560"/>
            <a:ext cx="17033677" cy="14528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81D3E0E-5861-4ABA-9DD9-69E378BC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99" y="3302000"/>
            <a:ext cx="7917061" cy="73964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header left">
            <a:extLst>
              <a:ext uri="{FF2B5EF4-FFF2-40B4-BE49-F238E27FC236}">
                <a16:creationId xmlns:a16="http://schemas.microsoft.com/office/drawing/2014/main" id="{CE09003A-A504-4C3A-89B2-F68DDB06412C}"/>
              </a:ext>
            </a:extLst>
          </p:cNvPr>
          <p:cNvSpPr>
            <a:spLocks noGrp="1"/>
          </p:cNvSpPr>
          <p:nvPr/>
        </p:nvSpPr>
        <p:spPr>
          <a:xfrm>
            <a:off x="123825" y="66675"/>
            <a:ext cx="9239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448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1448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R O W N · A I    /    F O R M A T I V E   R E S E A R C H</a:t>
            </a:r>
          </a:p>
        </p:txBody>
      </p:sp>
      <p:sp>
        <p:nvSpPr>
          <p:cNvPr id="2" name="header right">
            <a:extLst>
              <a:ext uri="{FF2B5EF4-FFF2-40B4-BE49-F238E27FC236}">
                <a16:creationId xmlns:a16="http://schemas.microsoft.com/office/drawing/2014/main" id="{439B3005-8D71-4222-A57B-4A7540905718}"/>
              </a:ext>
            </a:extLst>
          </p:cNvPr>
          <p:cNvSpPr>
            <a:spLocks noGrp="1"/>
          </p:cNvSpPr>
          <p:nvPr/>
        </p:nvSpPr>
        <p:spPr>
          <a:xfrm>
            <a:off x="14982825" y="76200"/>
            <a:ext cx="3829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748" b="1" i="0">
                <a:solidFill>
                  <a:srgbClr val="69777C"/>
                </a:solidFill>
                <a:latin typeface="Nimbus Sans"/>
                <a:ea typeface="Nimbus Sans"/>
                <a:cs typeface="Nimbus Sans"/>
              </a:defRPr>
            </a:pPr>
            <a:r>
              <a:rPr sz="1748" b="1" i="0">
                <a:solidFill>
                  <a:srgbClr val="6977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STUDENT INTERVIEWS</a:t>
            </a:r>
          </a:p>
        </p:txBody>
      </p:sp>
      <p:sp>
        <p:nvSpPr>
          <p:cNvPr id="3" name="main title">
            <a:extLst>
              <a:ext uri="{FF2B5EF4-FFF2-40B4-BE49-F238E27FC236}">
                <a16:creationId xmlns:a16="http://schemas.microsoft.com/office/drawing/2014/main" id="{2E412D6E-9DB6-4735-8992-AF858CCD2AC7}"/>
              </a:ext>
            </a:extLst>
          </p:cNvPr>
          <p:cNvSpPr>
            <a:spLocks noGrp="1"/>
          </p:cNvSpPr>
          <p:nvPr/>
        </p:nvSpPr>
        <p:spPr>
          <a:xfrm>
            <a:off x="298580" y="885825"/>
            <a:ext cx="1726552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4875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4875" b="1" i="0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sz="4875" b="1" i="0" dirty="0" err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BrownAI</a:t>
            </a:r>
            <a:r>
              <a:rPr sz="4875" b="1" i="0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What Students Told Us.</a:t>
            </a:r>
          </a:p>
        </p:txBody>
      </p:sp>
      <p:sp>
        <p:nvSpPr>
          <p:cNvPr id="4" name="research banner">
            <a:extLst>
              <a:ext uri="{FF2B5EF4-FFF2-40B4-BE49-F238E27FC236}">
                <a16:creationId xmlns:a16="http://schemas.microsoft.com/office/drawing/2014/main" id="{1A150115-B8E1-47FC-B2C6-8E1DE425E87B}"/>
              </a:ext>
            </a:extLst>
          </p:cNvPr>
          <p:cNvSpPr>
            <a:spLocks noGrp="1"/>
          </p:cNvSpPr>
          <p:nvPr/>
        </p:nvSpPr>
        <p:spPr>
          <a:xfrm>
            <a:off x="152400" y="1847849"/>
            <a:ext cx="18526125" cy="733425"/>
          </a:xfrm>
          <a:prstGeom prst="roundRect">
            <a:avLst>
              <a:gd name="adj" fmla="val 19318"/>
            </a:avLst>
          </a:prstGeom>
          <a:solidFill>
            <a:srgbClr val="E3EFEB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search-to-design">
            <a:extLst>
              <a:ext uri="{FF2B5EF4-FFF2-40B4-BE49-F238E27FC236}">
                <a16:creationId xmlns:a16="http://schemas.microsoft.com/office/drawing/2014/main" id="{ACD4F7C0-3CBB-499E-ABD8-9140126E1ACA}"/>
              </a:ext>
            </a:extLst>
          </p:cNvPr>
          <p:cNvSpPr>
            <a:spLocks noGrp="1"/>
          </p:cNvSpPr>
          <p:nvPr/>
        </p:nvSpPr>
        <p:spPr>
          <a:xfrm>
            <a:off x="485775" y="1962150"/>
            <a:ext cx="5381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72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06E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FORMATIVE STUDY   →   DESIGN LOGIC</a:t>
            </a:r>
          </a:p>
        </p:txBody>
      </p:sp>
      <p:sp>
        <p:nvSpPr>
          <p:cNvPr id="6" name="banner message">
            <a:extLst>
              <a:ext uri="{FF2B5EF4-FFF2-40B4-BE49-F238E27FC236}">
                <a16:creationId xmlns:a16="http://schemas.microsoft.com/office/drawing/2014/main" id="{4E55DF5F-88A0-4824-B589-FD5ACBF6DB9D}"/>
              </a:ext>
            </a:extLst>
          </p:cNvPr>
          <p:cNvSpPr>
            <a:spLocks noGrp="1"/>
          </p:cNvSpPr>
          <p:nvPr/>
        </p:nvSpPr>
        <p:spPr>
          <a:xfrm>
            <a:off x="6505575" y="1914525"/>
            <a:ext cx="11430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2550" b="1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designed because students asked for it.</a:t>
            </a:r>
          </a:p>
        </p:txBody>
      </p:sp>
      <p:sp>
        <p:nvSpPr>
          <p:cNvPr id="7" name="unify card">
            <a:extLst>
              <a:ext uri="{FF2B5EF4-FFF2-40B4-BE49-F238E27FC236}">
                <a16:creationId xmlns:a16="http://schemas.microsoft.com/office/drawing/2014/main" id="{41D368BC-DF89-4AFE-8AC4-BE8829943AE2}"/>
              </a:ext>
            </a:extLst>
          </p:cNvPr>
          <p:cNvSpPr>
            <a:spLocks noGrp="1"/>
          </p:cNvSpPr>
          <p:nvPr/>
        </p:nvSpPr>
        <p:spPr>
          <a:xfrm>
            <a:off x="152400" y="2819400"/>
            <a:ext cx="5829300" cy="6591300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12383">
            <a:solidFill>
              <a:srgbClr val="E5DCD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unify number circle">
            <a:extLst>
              <a:ext uri="{FF2B5EF4-FFF2-40B4-BE49-F238E27FC236}">
                <a16:creationId xmlns:a16="http://schemas.microsoft.com/office/drawing/2014/main" id="{451E5351-7C86-4901-9D9D-6FFA94801498}"/>
              </a:ext>
            </a:extLst>
          </p:cNvPr>
          <p:cNvSpPr>
            <a:spLocks noGrp="1"/>
          </p:cNvSpPr>
          <p:nvPr/>
        </p:nvSpPr>
        <p:spPr>
          <a:xfrm>
            <a:off x="495300" y="3114675"/>
            <a:ext cx="762000" cy="762000"/>
          </a:xfrm>
          <a:prstGeom prst="ellipse">
            <a:avLst/>
          </a:prstGeom>
          <a:solidFill>
            <a:srgbClr val="F6E9EB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unify number">
            <a:extLst>
              <a:ext uri="{FF2B5EF4-FFF2-40B4-BE49-F238E27FC236}">
                <a16:creationId xmlns:a16="http://schemas.microsoft.com/office/drawing/2014/main" id="{23C58918-C0C0-47E1-99D4-2B0E2087FAC8}"/>
              </a:ext>
            </a:extLst>
          </p:cNvPr>
          <p:cNvSpPr>
            <a:spLocks noGrp="1"/>
          </p:cNvSpPr>
          <p:nvPr/>
        </p:nvSpPr>
        <p:spPr>
          <a:xfrm>
            <a:off x="695325" y="3181350"/>
            <a:ext cx="3524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lnSpc>
                <a:spcPct val="102000"/>
              </a:lnSpc>
              <a:buNone/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unify title">
            <a:extLst>
              <a:ext uri="{FF2B5EF4-FFF2-40B4-BE49-F238E27FC236}">
                <a16:creationId xmlns:a16="http://schemas.microsoft.com/office/drawing/2014/main" id="{9E58D4C3-7C53-4127-8F94-D17A3F9388BA}"/>
              </a:ext>
            </a:extLst>
          </p:cNvPr>
          <p:cNvSpPr>
            <a:spLocks noGrp="1"/>
          </p:cNvSpPr>
          <p:nvPr/>
        </p:nvSpPr>
        <p:spPr>
          <a:xfrm>
            <a:off x="1524000" y="3267075"/>
            <a:ext cx="430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UNIFY INFO</a:t>
            </a:r>
          </a:p>
        </p:txBody>
      </p:sp>
      <p:sp>
        <p:nvSpPr>
          <p:cNvPr id="11" name="unify problem">
            <a:extLst>
              <a:ext uri="{FF2B5EF4-FFF2-40B4-BE49-F238E27FC236}">
                <a16:creationId xmlns:a16="http://schemas.microsoft.com/office/drawing/2014/main" id="{DCE855D7-9E83-4CBD-9852-AB5449BFDCA8}"/>
              </a:ext>
            </a:extLst>
          </p:cNvPr>
          <p:cNvSpPr>
            <a:spLocks noGrp="1"/>
          </p:cNvSpPr>
          <p:nvPr/>
        </p:nvSpPr>
        <p:spPr>
          <a:xfrm>
            <a:off x="638175" y="4276725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6000"/>
              </a:lnSpc>
              <a:buNone/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 i="0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information is scattered across different websites, apps, and offices.</a:t>
            </a:r>
          </a:p>
        </p:txBody>
      </p:sp>
      <p:sp>
        <p:nvSpPr>
          <p:cNvPr id="12" name="unify response">
            <a:extLst>
              <a:ext uri="{FF2B5EF4-FFF2-40B4-BE49-F238E27FC236}">
                <a16:creationId xmlns:a16="http://schemas.microsoft.com/office/drawing/2014/main" id="{798915D4-1CB6-42FD-9692-6548361C3EB2}"/>
              </a:ext>
            </a:extLst>
          </p:cNvPr>
          <p:cNvSpPr>
            <a:spLocks noGrp="1"/>
          </p:cNvSpPr>
          <p:nvPr/>
        </p:nvSpPr>
        <p:spPr>
          <a:xfrm>
            <a:off x="638175" y="5372100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 dirty="0">
                <a:solidFill>
                  <a:srgbClr val="206E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One place to find connected campus information</a:t>
            </a:r>
          </a:p>
        </p:txBody>
      </p:sp>
      <p:sp>
        <p:nvSpPr>
          <p:cNvPr id="13" name="unify student label">
            <a:extLst>
              <a:ext uri="{FF2B5EF4-FFF2-40B4-BE49-F238E27FC236}">
                <a16:creationId xmlns:a16="http://schemas.microsoft.com/office/drawing/2014/main" id="{7049F21F-A513-4EA0-B144-3837F8674EF1}"/>
              </a:ext>
            </a:extLst>
          </p:cNvPr>
          <p:cNvSpPr>
            <a:spLocks noGrp="1"/>
          </p:cNvSpPr>
          <p:nvPr/>
        </p:nvSpPr>
        <p:spPr>
          <a:xfrm>
            <a:off x="638175" y="6048375"/>
            <a:ext cx="495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SAY</a:t>
            </a:r>
          </a:p>
        </p:txBody>
      </p:sp>
      <p:sp>
        <p:nvSpPr>
          <p:cNvPr id="14" name="unify quote background 1">
            <a:extLst>
              <a:ext uri="{FF2B5EF4-FFF2-40B4-BE49-F238E27FC236}">
                <a16:creationId xmlns:a16="http://schemas.microsoft.com/office/drawing/2014/main" id="{C6F5832B-0DFD-4B98-AC56-7EA088FFCC81}"/>
              </a:ext>
            </a:extLst>
          </p:cNvPr>
          <p:cNvSpPr>
            <a:spLocks noGrp="1"/>
          </p:cNvSpPr>
          <p:nvPr/>
        </p:nvSpPr>
        <p:spPr>
          <a:xfrm>
            <a:off x="638175" y="6419850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1EBE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unify quote 1">
            <a:extLst>
              <a:ext uri="{FF2B5EF4-FFF2-40B4-BE49-F238E27FC236}">
                <a16:creationId xmlns:a16="http://schemas.microsoft.com/office/drawing/2014/main" id="{B6D06001-6551-4307-860D-BD4180FE3C6D}"/>
              </a:ext>
            </a:extLst>
          </p:cNvPr>
          <p:cNvSpPr>
            <a:spLocks noGrp="1"/>
          </p:cNvSpPr>
          <p:nvPr/>
        </p:nvSpPr>
        <p:spPr>
          <a:xfrm>
            <a:off x="800100" y="6523847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“Shuttles, emergency contacts, housing, and portals all live in different places.”</a:t>
            </a:r>
          </a:p>
        </p:txBody>
      </p:sp>
      <p:sp>
        <p:nvSpPr>
          <p:cNvPr id="16" name="unify segment 1">
            <a:extLst>
              <a:ext uri="{FF2B5EF4-FFF2-40B4-BE49-F238E27FC236}">
                <a16:creationId xmlns:a16="http://schemas.microsoft.com/office/drawing/2014/main" id="{9C3FE338-8234-4B6C-8944-CCC63AB676B1}"/>
              </a:ext>
            </a:extLst>
          </p:cNvPr>
          <p:cNvSpPr>
            <a:spLocks noGrp="1"/>
          </p:cNvSpPr>
          <p:nvPr/>
        </p:nvSpPr>
        <p:spPr>
          <a:xfrm>
            <a:off x="4095750" y="705802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P08_M015</a:t>
            </a:r>
          </a:p>
        </p:txBody>
      </p:sp>
      <p:sp>
        <p:nvSpPr>
          <p:cNvPr id="17" name="unify quote background 2">
            <a:extLst>
              <a:ext uri="{FF2B5EF4-FFF2-40B4-BE49-F238E27FC236}">
                <a16:creationId xmlns:a16="http://schemas.microsoft.com/office/drawing/2014/main" id="{39794ACC-09FD-4FB2-982E-FB2C8A297E61}"/>
              </a:ext>
            </a:extLst>
          </p:cNvPr>
          <p:cNvSpPr>
            <a:spLocks noGrp="1"/>
          </p:cNvSpPr>
          <p:nvPr/>
        </p:nvSpPr>
        <p:spPr>
          <a:xfrm>
            <a:off x="638175" y="7362825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CF0EC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unify quote 2">
            <a:extLst>
              <a:ext uri="{FF2B5EF4-FFF2-40B4-BE49-F238E27FC236}">
                <a16:creationId xmlns:a16="http://schemas.microsoft.com/office/drawing/2014/main" id="{1777801B-CD9E-400E-9493-82470684617E}"/>
              </a:ext>
            </a:extLst>
          </p:cNvPr>
          <p:cNvSpPr>
            <a:spLocks noGrp="1"/>
          </p:cNvSpPr>
          <p:nvPr/>
        </p:nvSpPr>
        <p:spPr>
          <a:xfrm>
            <a:off x="800100" y="7466822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“For research talks and faculty projects, I search emails and department pages. I want one place to ask.”</a:t>
            </a:r>
          </a:p>
        </p:txBody>
      </p:sp>
      <p:sp>
        <p:nvSpPr>
          <p:cNvPr id="19" name="unify segment 2">
            <a:extLst>
              <a:ext uri="{FF2B5EF4-FFF2-40B4-BE49-F238E27FC236}">
                <a16:creationId xmlns:a16="http://schemas.microsoft.com/office/drawing/2014/main" id="{813CAC60-2668-4376-A865-86593FFD188F}"/>
              </a:ext>
            </a:extLst>
          </p:cNvPr>
          <p:cNvSpPr>
            <a:spLocks noGrp="1"/>
          </p:cNvSpPr>
          <p:nvPr/>
        </p:nvSpPr>
        <p:spPr>
          <a:xfrm>
            <a:off x="4095750" y="8001000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P05_M022</a:t>
            </a:r>
          </a:p>
        </p:txBody>
      </p:sp>
      <p:sp>
        <p:nvSpPr>
          <p:cNvPr id="20" name="unify quote background 3">
            <a:extLst>
              <a:ext uri="{FF2B5EF4-FFF2-40B4-BE49-F238E27FC236}">
                <a16:creationId xmlns:a16="http://schemas.microsoft.com/office/drawing/2014/main" id="{99B3E23B-5471-44CF-9188-5E04DC5E6FF9}"/>
              </a:ext>
            </a:extLst>
          </p:cNvPr>
          <p:cNvSpPr>
            <a:spLocks noGrp="1"/>
          </p:cNvSpPr>
          <p:nvPr/>
        </p:nvSpPr>
        <p:spPr>
          <a:xfrm>
            <a:off x="638175" y="8305800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1EBE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unify quote 3">
            <a:extLst>
              <a:ext uri="{FF2B5EF4-FFF2-40B4-BE49-F238E27FC236}">
                <a16:creationId xmlns:a16="http://schemas.microsoft.com/office/drawing/2014/main" id="{FC6C5BCC-2CC0-4ECA-A4FD-87875A879EF0}"/>
              </a:ext>
            </a:extLst>
          </p:cNvPr>
          <p:cNvSpPr>
            <a:spLocks noGrp="1"/>
          </p:cNvSpPr>
          <p:nvPr/>
        </p:nvSpPr>
        <p:spPr>
          <a:xfrm>
            <a:off x="800100" y="8409797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need PassioGo and RIPTA separately, even when I am planning one trip.”</a:t>
            </a:r>
          </a:p>
        </p:txBody>
      </p:sp>
      <p:sp>
        <p:nvSpPr>
          <p:cNvPr id="22" name="unify segment 3">
            <a:extLst>
              <a:ext uri="{FF2B5EF4-FFF2-40B4-BE49-F238E27FC236}">
                <a16:creationId xmlns:a16="http://schemas.microsoft.com/office/drawing/2014/main" id="{4A8D9401-921B-4245-98FC-BE9E20EA4A69}"/>
              </a:ext>
            </a:extLst>
          </p:cNvPr>
          <p:cNvSpPr>
            <a:spLocks noGrp="1"/>
          </p:cNvSpPr>
          <p:nvPr/>
        </p:nvSpPr>
        <p:spPr>
          <a:xfrm>
            <a:off x="4095750" y="894397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P06_M005</a:t>
            </a:r>
          </a:p>
        </p:txBody>
      </p:sp>
      <p:sp>
        <p:nvSpPr>
          <p:cNvPr id="23" name="task card">
            <a:extLst>
              <a:ext uri="{FF2B5EF4-FFF2-40B4-BE49-F238E27FC236}">
                <a16:creationId xmlns:a16="http://schemas.microsoft.com/office/drawing/2014/main" id="{00FAE3A5-716A-4EE0-B78D-5CACD9385B36}"/>
              </a:ext>
            </a:extLst>
          </p:cNvPr>
          <p:cNvSpPr>
            <a:spLocks noGrp="1"/>
          </p:cNvSpPr>
          <p:nvPr/>
        </p:nvSpPr>
        <p:spPr>
          <a:xfrm>
            <a:off x="6505575" y="2819400"/>
            <a:ext cx="5829300" cy="6591300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12383">
            <a:solidFill>
              <a:srgbClr val="E5DCD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ask number circle">
            <a:extLst>
              <a:ext uri="{FF2B5EF4-FFF2-40B4-BE49-F238E27FC236}">
                <a16:creationId xmlns:a16="http://schemas.microsoft.com/office/drawing/2014/main" id="{902B5A2E-615E-407E-9225-8D351D4C1E12}"/>
              </a:ext>
            </a:extLst>
          </p:cNvPr>
          <p:cNvSpPr>
            <a:spLocks noGrp="1"/>
          </p:cNvSpPr>
          <p:nvPr/>
        </p:nvSpPr>
        <p:spPr>
          <a:xfrm>
            <a:off x="6848475" y="3114675"/>
            <a:ext cx="762000" cy="762000"/>
          </a:xfrm>
          <a:prstGeom prst="ellipse">
            <a:avLst/>
          </a:prstGeom>
          <a:solidFill>
            <a:srgbClr val="F6E9EB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ask number">
            <a:extLst>
              <a:ext uri="{FF2B5EF4-FFF2-40B4-BE49-F238E27FC236}">
                <a16:creationId xmlns:a16="http://schemas.microsoft.com/office/drawing/2014/main" id="{1C1EF6C2-2D21-4FF5-BF85-E5DAA6F7842C}"/>
              </a:ext>
            </a:extLst>
          </p:cNvPr>
          <p:cNvSpPr>
            <a:spLocks noGrp="1"/>
          </p:cNvSpPr>
          <p:nvPr/>
        </p:nvSpPr>
        <p:spPr>
          <a:xfrm>
            <a:off x="7048500" y="3181350"/>
            <a:ext cx="3524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lnSpc>
                <a:spcPct val="102000"/>
              </a:lnSpc>
              <a:buNone/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ask title">
            <a:extLst>
              <a:ext uri="{FF2B5EF4-FFF2-40B4-BE49-F238E27FC236}">
                <a16:creationId xmlns:a16="http://schemas.microsoft.com/office/drawing/2014/main" id="{1CF73630-B3AA-4611-A5E0-7A00C6F5E87A}"/>
              </a:ext>
            </a:extLst>
          </p:cNvPr>
          <p:cNvSpPr>
            <a:spLocks noGrp="1"/>
          </p:cNvSpPr>
          <p:nvPr/>
        </p:nvSpPr>
        <p:spPr>
          <a:xfrm>
            <a:off x="7877175" y="3267075"/>
            <a:ext cx="430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TASKS</a:t>
            </a:r>
          </a:p>
        </p:txBody>
      </p:sp>
      <p:sp>
        <p:nvSpPr>
          <p:cNvPr id="27" name="task problem">
            <a:extLst>
              <a:ext uri="{FF2B5EF4-FFF2-40B4-BE49-F238E27FC236}">
                <a16:creationId xmlns:a16="http://schemas.microsoft.com/office/drawing/2014/main" id="{69CBDD91-2D62-40AA-BB9F-DD8054832E2B}"/>
              </a:ext>
            </a:extLst>
          </p:cNvPr>
          <p:cNvSpPr>
            <a:spLocks noGrp="1"/>
          </p:cNvSpPr>
          <p:nvPr/>
        </p:nvSpPr>
        <p:spPr>
          <a:xfrm>
            <a:off x="6991350" y="4276725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6000"/>
              </a:lnSpc>
              <a:buNone/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 i="0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need help coordinating steps and people to reach a finished outcome.</a:t>
            </a:r>
          </a:p>
        </p:txBody>
      </p:sp>
      <p:sp>
        <p:nvSpPr>
          <p:cNvPr id="28" name="task response">
            <a:extLst>
              <a:ext uri="{FF2B5EF4-FFF2-40B4-BE49-F238E27FC236}">
                <a16:creationId xmlns:a16="http://schemas.microsoft.com/office/drawing/2014/main" id="{FAD529C5-352F-439C-9547-20F6AAAFD35D}"/>
              </a:ext>
            </a:extLst>
          </p:cNvPr>
          <p:cNvSpPr>
            <a:spLocks noGrp="1"/>
          </p:cNvSpPr>
          <p:nvPr/>
        </p:nvSpPr>
        <p:spPr>
          <a:xfrm>
            <a:off x="6991350" y="5372100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 dirty="0">
                <a:solidFill>
                  <a:srgbClr val="206E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Coordinated planning and follow-through</a:t>
            </a:r>
          </a:p>
        </p:txBody>
      </p:sp>
      <p:sp>
        <p:nvSpPr>
          <p:cNvPr id="29" name="task student label">
            <a:extLst>
              <a:ext uri="{FF2B5EF4-FFF2-40B4-BE49-F238E27FC236}">
                <a16:creationId xmlns:a16="http://schemas.microsoft.com/office/drawing/2014/main" id="{9B23599F-653F-4FCA-9DCB-05CF4E83ADFC}"/>
              </a:ext>
            </a:extLst>
          </p:cNvPr>
          <p:cNvSpPr>
            <a:spLocks noGrp="1"/>
          </p:cNvSpPr>
          <p:nvPr/>
        </p:nvSpPr>
        <p:spPr>
          <a:xfrm>
            <a:off x="6991350" y="6048375"/>
            <a:ext cx="495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SAY</a:t>
            </a:r>
          </a:p>
        </p:txBody>
      </p:sp>
      <p:sp>
        <p:nvSpPr>
          <p:cNvPr id="30" name="task quote background 1">
            <a:extLst>
              <a:ext uri="{FF2B5EF4-FFF2-40B4-BE49-F238E27FC236}">
                <a16:creationId xmlns:a16="http://schemas.microsoft.com/office/drawing/2014/main" id="{6C548D10-A51B-427C-A4E5-F7B744DF6B6B}"/>
              </a:ext>
            </a:extLst>
          </p:cNvPr>
          <p:cNvSpPr>
            <a:spLocks noGrp="1"/>
          </p:cNvSpPr>
          <p:nvPr/>
        </p:nvSpPr>
        <p:spPr>
          <a:xfrm>
            <a:off x="6991350" y="6419850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1EBE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ask quote 1">
            <a:extLst>
              <a:ext uri="{FF2B5EF4-FFF2-40B4-BE49-F238E27FC236}">
                <a16:creationId xmlns:a16="http://schemas.microsoft.com/office/drawing/2014/main" id="{CBFABEA0-CCAF-44F4-AFD1-99987FBE9FCF}"/>
              </a:ext>
            </a:extLst>
          </p:cNvPr>
          <p:cNvSpPr>
            <a:spLocks noGrp="1"/>
          </p:cNvSpPr>
          <p:nvPr/>
        </p:nvSpPr>
        <p:spPr>
          <a:xfrm>
            <a:off x="7153275" y="6523847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 arrange a TA meeting, I collect everyone’s availability, then try a separate site to book a room.”</a:t>
            </a:r>
          </a:p>
        </p:txBody>
      </p:sp>
      <p:sp>
        <p:nvSpPr>
          <p:cNvPr id="32" name="task segment 1">
            <a:extLst>
              <a:ext uri="{FF2B5EF4-FFF2-40B4-BE49-F238E27FC236}">
                <a16:creationId xmlns:a16="http://schemas.microsoft.com/office/drawing/2014/main" id="{DF8CD43B-77FB-493C-980B-06823F5DDD47}"/>
              </a:ext>
            </a:extLst>
          </p:cNvPr>
          <p:cNvSpPr>
            <a:spLocks noGrp="1"/>
          </p:cNvSpPr>
          <p:nvPr/>
        </p:nvSpPr>
        <p:spPr>
          <a:xfrm>
            <a:off x="10448925" y="705802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P07_M018</a:t>
            </a:r>
          </a:p>
        </p:txBody>
      </p:sp>
      <p:sp>
        <p:nvSpPr>
          <p:cNvPr id="33" name="task quote background 2">
            <a:extLst>
              <a:ext uri="{FF2B5EF4-FFF2-40B4-BE49-F238E27FC236}">
                <a16:creationId xmlns:a16="http://schemas.microsoft.com/office/drawing/2014/main" id="{391D4DC3-BA86-4DFE-921A-BB62C27AC2C8}"/>
              </a:ext>
            </a:extLst>
          </p:cNvPr>
          <p:cNvSpPr>
            <a:spLocks noGrp="1"/>
          </p:cNvSpPr>
          <p:nvPr/>
        </p:nvSpPr>
        <p:spPr>
          <a:xfrm>
            <a:off x="6991350" y="7362825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CF0EC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ask quote 2">
            <a:extLst>
              <a:ext uri="{FF2B5EF4-FFF2-40B4-BE49-F238E27FC236}">
                <a16:creationId xmlns:a16="http://schemas.microsoft.com/office/drawing/2014/main" id="{92AD3508-2051-4595-AE60-E762AE2C3E0E}"/>
              </a:ext>
            </a:extLst>
          </p:cNvPr>
          <p:cNvSpPr>
            <a:spLocks noGrp="1"/>
          </p:cNvSpPr>
          <p:nvPr/>
        </p:nvSpPr>
        <p:spPr>
          <a:xfrm>
            <a:off x="7153275" y="7466822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“After finding an event, I still check the deadline, compare my calendar, and add it myself.”</a:t>
            </a:r>
          </a:p>
        </p:txBody>
      </p:sp>
      <p:sp>
        <p:nvSpPr>
          <p:cNvPr id="35" name="task segment 2">
            <a:extLst>
              <a:ext uri="{FF2B5EF4-FFF2-40B4-BE49-F238E27FC236}">
                <a16:creationId xmlns:a16="http://schemas.microsoft.com/office/drawing/2014/main" id="{91E88FCE-F702-4E26-9931-7AA3F8D54369}"/>
              </a:ext>
            </a:extLst>
          </p:cNvPr>
          <p:cNvSpPr>
            <a:spLocks noGrp="1"/>
          </p:cNvSpPr>
          <p:nvPr/>
        </p:nvSpPr>
        <p:spPr>
          <a:xfrm>
            <a:off x="10448925" y="8001000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P05_M013</a:t>
            </a:r>
          </a:p>
        </p:txBody>
      </p:sp>
      <p:sp>
        <p:nvSpPr>
          <p:cNvPr id="36" name="task quote background 3">
            <a:extLst>
              <a:ext uri="{FF2B5EF4-FFF2-40B4-BE49-F238E27FC236}">
                <a16:creationId xmlns:a16="http://schemas.microsoft.com/office/drawing/2014/main" id="{B966C69E-AB11-4854-8667-DF4D5C441455}"/>
              </a:ext>
            </a:extLst>
          </p:cNvPr>
          <p:cNvSpPr>
            <a:spLocks noGrp="1"/>
          </p:cNvSpPr>
          <p:nvPr/>
        </p:nvSpPr>
        <p:spPr>
          <a:xfrm>
            <a:off x="6991350" y="8305800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1EBE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ask quote 3">
            <a:extLst>
              <a:ext uri="{FF2B5EF4-FFF2-40B4-BE49-F238E27FC236}">
                <a16:creationId xmlns:a16="http://schemas.microsoft.com/office/drawing/2014/main" id="{55F9831C-C8B1-4B87-A2AC-AC929B28F767}"/>
              </a:ext>
            </a:extLst>
          </p:cNvPr>
          <p:cNvSpPr>
            <a:spLocks noGrp="1"/>
          </p:cNvSpPr>
          <p:nvPr/>
        </p:nvSpPr>
        <p:spPr>
          <a:xfrm>
            <a:off x="7153275" y="8409797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“Organizing a student event involves registration, spaces, and campus approval rules.”</a:t>
            </a:r>
          </a:p>
        </p:txBody>
      </p:sp>
      <p:sp>
        <p:nvSpPr>
          <p:cNvPr id="38" name="task segment 3">
            <a:extLst>
              <a:ext uri="{FF2B5EF4-FFF2-40B4-BE49-F238E27FC236}">
                <a16:creationId xmlns:a16="http://schemas.microsoft.com/office/drawing/2014/main" id="{1240AAF2-A7CF-4BE1-B712-2998E93C7980}"/>
              </a:ext>
            </a:extLst>
          </p:cNvPr>
          <p:cNvSpPr>
            <a:spLocks noGrp="1"/>
          </p:cNvSpPr>
          <p:nvPr/>
        </p:nvSpPr>
        <p:spPr>
          <a:xfrm>
            <a:off x="10448925" y="894397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P02_M015</a:t>
            </a:r>
          </a:p>
        </p:txBody>
      </p:sp>
      <p:sp>
        <p:nvSpPr>
          <p:cNvPr id="39" name="time card">
            <a:extLst>
              <a:ext uri="{FF2B5EF4-FFF2-40B4-BE49-F238E27FC236}">
                <a16:creationId xmlns:a16="http://schemas.microsoft.com/office/drawing/2014/main" id="{5BB61CB8-7EC2-4A83-B1C3-78E48E688538}"/>
              </a:ext>
            </a:extLst>
          </p:cNvPr>
          <p:cNvSpPr>
            <a:spLocks noGrp="1"/>
          </p:cNvSpPr>
          <p:nvPr/>
        </p:nvSpPr>
        <p:spPr>
          <a:xfrm>
            <a:off x="12858750" y="2819400"/>
            <a:ext cx="5829300" cy="6591300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12383">
            <a:solidFill>
              <a:srgbClr val="E5DCD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ime number circle">
            <a:extLst>
              <a:ext uri="{FF2B5EF4-FFF2-40B4-BE49-F238E27FC236}">
                <a16:creationId xmlns:a16="http://schemas.microsoft.com/office/drawing/2014/main" id="{586596DC-9F9E-4B32-8F73-9133D520CE46}"/>
              </a:ext>
            </a:extLst>
          </p:cNvPr>
          <p:cNvSpPr>
            <a:spLocks noGrp="1"/>
          </p:cNvSpPr>
          <p:nvPr/>
        </p:nvSpPr>
        <p:spPr>
          <a:xfrm>
            <a:off x="13201650" y="3114675"/>
            <a:ext cx="762000" cy="762000"/>
          </a:xfrm>
          <a:prstGeom prst="ellipse">
            <a:avLst/>
          </a:prstGeom>
          <a:solidFill>
            <a:srgbClr val="F6E9EB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ime number">
            <a:extLst>
              <a:ext uri="{FF2B5EF4-FFF2-40B4-BE49-F238E27FC236}">
                <a16:creationId xmlns:a16="http://schemas.microsoft.com/office/drawing/2014/main" id="{C95A0BD0-1521-40D9-B842-040D26A1340B}"/>
              </a:ext>
            </a:extLst>
          </p:cNvPr>
          <p:cNvSpPr>
            <a:spLocks noGrp="1"/>
          </p:cNvSpPr>
          <p:nvPr/>
        </p:nvSpPr>
        <p:spPr>
          <a:xfrm>
            <a:off x="13401675" y="3181350"/>
            <a:ext cx="3524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lnSpc>
                <a:spcPct val="102000"/>
              </a:lnSpc>
              <a:buNone/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2" name="time title">
            <a:extLst>
              <a:ext uri="{FF2B5EF4-FFF2-40B4-BE49-F238E27FC236}">
                <a16:creationId xmlns:a16="http://schemas.microsoft.com/office/drawing/2014/main" id="{421464A8-BEB0-473E-A46C-28F4AD237189}"/>
              </a:ext>
            </a:extLst>
          </p:cNvPr>
          <p:cNvSpPr>
            <a:spLocks noGrp="1"/>
          </p:cNvSpPr>
          <p:nvPr/>
        </p:nvSpPr>
        <p:spPr>
          <a:xfrm>
            <a:off x="14230350" y="3267075"/>
            <a:ext cx="430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270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TIME</a:t>
            </a:r>
          </a:p>
        </p:txBody>
      </p:sp>
      <p:sp>
        <p:nvSpPr>
          <p:cNvPr id="43" name="time problem">
            <a:extLst>
              <a:ext uri="{FF2B5EF4-FFF2-40B4-BE49-F238E27FC236}">
                <a16:creationId xmlns:a16="http://schemas.microsoft.com/office/drawing/2014/main" id="{E3DD91E5-E408-490E-98BC-D749461452FB}"/>
              </a:ext>
            </a:extLst>
          </p:cNvPr>
          <p:cNvSpPr>
            <a:spLocks noGrp="1"/>
          </p:cNvSpPr>
          <p:nvPr/>
        </p:nvSpPr>
        <p:spPr>
          <a:xfrm>
            <a:off x="13344525" y="4276725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6000"/>
              </a:lnSpc>
              <a:buNone/>
              <a:defRPr sz="2033" b="0" i="0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 i="0" dirty="0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checking and trial and error turn simple tasks into extra work.</a:t>
            </a:r>
          </a:p>
        </p:txBody>
      </p:sp>
      <p:sp>
        <p:nvSpPr>
          <p:cNvPr id="44" name="time response">
            <a:extLst>
              <a:ext uri="{FF2B5EF4-FFF2-40B4-BE49-F238E27FC236}">
                <a16:creationId xmlns:a16="http://schemas.microsoft.com/office/drawing/2014/main" id="{1A1D9D2F-F990-4051-9729-1A59BE63BD51}"/>
              </a:ext>
            </a:extLst>
          </p:cNvPr>
          <p:cNvSpPr>
            <a:spLocks noGrp="1"/>
          </p:cNvSpPr>
          <p:nvPr/>
        </p:nvSpPr>
        <p:spPr>
          <a:xfrm>
            <a:off x="13344525" y="5372100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665" b="1" i="0">
                <a:solidFill>
                  <a:srgbClr val="206E6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 dirty="0">
                <a:solidFill>
                  <a:srgbClr val="206E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Fewer repetitive steps and avoidable checks</a:t>
            </a:r>
          </a:p>
        </p:txBody>
      </p:sp>
      <p:sp>
        <p:nvSpPr>
          <p:cNvPr id="45" name="time student label">
            <a:extLst>
              <a:ext uri="{FF2B5EF4-FFF2-40B4-BE49-F238E27FC236}">
                <a16:creationId xmlns:a16="http://schemas.microsoft.com/office/drawing/2014/main" id="{BC21DAFB-B1D5-43B3-A599-41E0F1939B44}"/>
              </a:ext>
            </a:extLst>
          </p:cNvPr>
          <p:cNvSpPr>
            <a:spLocks noGrp="1"/>
          </p:cNvSpPr>
          <p:nvPr/>
        </p:nvSpPr>
        <p:spPr>
          <a:xfrm>
            <a:off x="13344525" y="6048375"/>
            <a:ext cx="495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350" b="1" i="0">
                <a:solidFill>
                  <a:srgbClr val="64354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643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SAY</a:t>
            </a:r>
          </a:p>
        </p:txBody>
      </p:sp>
      <p:sp>
        <p:nvSpPr>
          <p:cNvPr id="46" name="time quote background 1">
            <a:extLst>
              <a:ext uri="{FF2B5EF4-FFF2-40B4-BE49-F238E27FC236}">
                <a16:creationId xmlns:a16="http://schemas.microsoft.com/office/drawing/2014/main" id="{3868A705-6C47-4D5B-9DD7-42D93A246D05}"/>
              </a:ext>
            </a:extLst>
          </p:cNvPr>
          <p:cNvSpPr>
            <a:spLocks noGrp="1"/>
          </p:cNvSpPr>
          <p:nvPr/>
        </p:nvSpPr>
        <p:spPr>
          <a:xfrm>
            <a:off x="13344525" y="6419850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1EBE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ime quote 1">
            <a:extLst>
              <a:ext uri="{FF2B5EF4-FFF2-40B4-BE49-F238E27FC236}">
                <a16:creationId xmlns:a16="http://schemas.microsoft.com/office/drawing/2014/main" id="{F7D4BA8C-60A6-4420-91A5-D3D1C9ABE9AF}"/>
              </a:ext>
            </a:extLst>
          </p:cNvPr>
          <p:cNvSpPr>
            <a:spLocks noGrp="1"/>
          </p:cNvSpPr>
          <p:nvPr/>
        </p:nvSpPr>
        <p:spPr>
          <a:xfrm>
            <a:off x="13506450" y="6523847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 book a Lindemann room, I test each possible hour in Google Calendar one by one.”</a:t>
            </a:r>
          </a:p>
        </p:txBody>
      </p:sp>
      <p:sp>
        <p:nvSpPr>
          <p:cNvPr id="48" name="time segment 1">
            <a:extLst>
              <a:ext uri="{FF2B5EF4-FFF2-40B4-BE49-F238E27FC236}">
                <a16:creationId xmlns:a16="http://schemas.microsoft.com/office/drawing/2014/main" id="{460234C9-E55A-4DA3-90D8-9FD7FBB08D0A}"/>
              </a:ext>
            </a:extLst>
          </p:cNvPr>
          <p:cNvSpPr>
            <a:spLocks noGrp="1"/>
          </p:cNvSpPr>
          <p:nvPr/>
        </p:nvSpPr>
        <p:spPr>
          <a:xfrm>
            <a:off x="16802100" y="705802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P04_M020</a:t>
            </a:r>
          </a:p>
        </p:txBody>
      </p:sp>
      <p:sp>
        <p:nvSpPr>
          <p:cNvPr id="49" name="time quote background 2">
            <a:extLst>
              <a:ext uri="{FF2B5EF4-FFF2-40B4-BE49-F238E27FC236}">
                <a16:creationId xmlns:a16="http://schemas.microsoft.com/office/drawing/2014/main" id="{7BD14C0C-51BF-4C3B-BD06-71965A80DC23}"/>
              </a:ext>
            </a:extLst>
          </p:cNvPr>
          <p:cNvSpPr>
            <a:spLocks noGrp="1"/>
          </p:cNvSpPr>
          <p:nvPr/>
        </p:nvSpPr>
        <p:spPr>
          <a:xfrm>
            <a:off x="13344525" y="7362825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CF0EC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ime quote 2">
            <a:extLst>
              <a:ext uri="{FF2B5EF4-FFF2-40B4-BE49-F238E27FC236}">
                <a16:creationId xmlns:a16="http://schemas.microsoft.com/office/drawing/2014/main" id="{A198AC6F-9304-4BDA-9DCB-13782FA9574F}"/>
              </a:ext>
            </a:extLst>
          </p:cNvPr>
          <p:cNvSpPr>
            <a:spLocks noGrp="1"/>
          </p:cNvSpPr>
          <p:nvPr/>
        </p:nvSpPr>
        <p:spPr>
          <a:xfrm>
            <a:off x="13506450" y="7466822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“Checking ingredients for every dish gets tedious. I want suitable meals highlighted automatically.”</a:t>
            </a:r>
          </a:p>
        </p:txBody>
      </p:sp>
      <p:sp>
        <p:nvSpPr>
          <p:cNvPr id="51" name="time segment 2">
            <a:extLst>
              <a:ext uri="{FF2B5EF4-FFF2-40B4-BE49-F238E27FC236}">
                <a16:creationId xmlns:a16="http://schemas.microsoft.com/office/drawing/2014/main" id="{286E235D-21CD-4D8B-B71C-C1D4DA83C4C5}"/>
              </a:ext>
            </a:extLst>
          </p:cNvPr>
          <p:cNvSpPr>
            <a:spLocks noGrp="1"/>
          </p:cNvSpPr>
          <p:nvPr/>
        </p:nvSpPr>
        <p:spPr>
          <a:xfrm>
            <a:off x="16802100" y="8001000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P06_M022</a:t>
            </a:r>
          </a:p>
        </p:txBody>
      </p:sp>
      <p:sp>
        <p:nvSpPr>
          <p:cNvPr id="52" name="time quote background 3">
            <a:extLst>
              <a:ext uri="{FF2B5EF4-FFF2-40B4-BE49-F238E27FC236}">
                <a16:creationId xmlns:a16="http://schemas.microsoft.com/office/drawing/2014/main" id="{41876358-9F4E-458C-B677-A7ECFFBE2A2F}"/>
              </a:ext>
            </a:extLst>
          </p:cNvPr>
          <p:cNvSpPr>
            <a:spLocks noGrp="1"/>
          </p:cNvSpPr>
          <p:nvPr/>
        </p:nvSpPr>
        <p:spPr>
          <a:xfrm>
            <a:off x="13344525" y="8305800"/>
            <a:ext cx="4876800" cy="838200"/>
          </a:xfrm>
          <a:prstGeom prst="roundRect">
            <a:avLst>
              <a:gd name="adj" fmla="val 17045"/>
            </a:avLst>
          </a:prstGeom>
          <a:solidFill>
            <a:srgbClr val="F1EBE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ime quote 3">
            <a:extLst>
              <a:ext uri="{FF2B5EF4-FFF2-40B4-BE49-F238E27FC236}">
                <a16:creationId xmlns:a16="http://schemas.microsoft.com/office/drawing/2014/main" id="{8FAF1810-9836-48A7-B4A9-1F644E8BF61F}"/>
              </a:ext>
            </a:extLst>
          </p:cNvPr>
          <p:cNvSpPr>
            <a:spLocks noGrp="1"/>
          </p:cNvSpPr>
          <p:nvPr/>
        </p:nvSpPr>
        <p:spPr>
          <a:xfrm>
            <a:off x="13506450" y="8409797"/>
            <a:ext cx="4543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1000"/>
              </a:lnSpc>
              <a:buNone/>
              <a:defRPr sz="1538" b="0" i="1">
                <a:solidFill>
                  <a:srgbClr val="27333B"/>
                </a:solidFill>
                <a:latin typeface="Nimbus Sans"/>
                <a:ea typeface="Nimbus Sans"/>
                <a:cs typeface="Nimbus Sans"/>
              </a:defRPr>
            </a:pPr>
            <a:r>
              <a:rPr sz="1800" i="1">
                <a:solidFill>
                  <a:srgbClr val="2733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keep watching full classes for a seat to open. The window can be brief.”</a:t>
            </a:r>
          </a:p>
        </p:txBody>
      </p:sp>
      <p:sp>
        <p:nvSpPr>
          <p:cNvPr id="54" name="time segment 3">
            <a:extLst>
              <a:ext uri="{FF2B5EF4-FFF2-40B4-BE49-F238E27FC236}">
                <a16:creationId xmlns:a16="http://schemas.microsoft.com/office/drawing/2014/main" id="{C00432E1-EB15-4CCE-B097-92C00E8C0D39}"/>
              </a:ext>
            </a:extLst>
          </p:cNvPr>
          <p:cNvSpPr>
            <a:spLocks noGrp="1"/>
          </p:cNvSpPr>
          <p:nvPr/>
        </p:nvSpPr>
        <p:spPr>
          <a:xfrm>
            <a:off x="16802100" y="894397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defPPr>
            <a:lvl1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035" b="1" i="0">
                <a:solidFill>
                  <a:srgbClr val="62717A"/>
                </a:solidFill>
                <a:latin typeface="Nimbus Sans"/>
                <a:ea typeface="Nimbus Sans"/>
                <a:cs typeface="Nimbus Sans"/>
              </a:defRPr>
            </a:pPr>
            <a:r>
              <a:rPr sz="1035" b="1" i="0">
                <a:solidFill>
                  <a:srgbClr val="6271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P02_M002</a:t>
            </a:r>
          </a:p>
        </p:txBody>
      </p:sp>
      <p:sp>
        <p:nvSpPr>
          <p:cNvPr id="55" name="responsible use footer">
            <a:extLst>
              <a:ext uri="{FF2B5EF4-FFF2-40B4-BE49-F238E27FC236}">
                <a16:creationId xmlns:a16="http://schemas.microsoft.com/office/drawing/2014/main" id="{E3414E1F-F366-4553-BAE9-314BB963DA6B}"/>
              </a:ext>
            </a:extLst>
          </p:cNvPr>
          <p:cNvSpPr>
            <a:spLocks noGrp="1"/>
          </p:cNvSpPr>
          <p:nvPr/>
        </p:nvSpPr>
        <p:spPr>
          <a:xfrm>
            <a:off x="152400" y="9582150"/>
            <a:ext cx="18526125" cy="2152650"/>
          </a:xfrm>
          <a:prstGeom prst="roundRect">
            <a:avLst>
              <a:gd name="adj" fmla="val 6195"/>
            </a:avLst>
          </a:prstGeom>
          <a:solidFill>
            <a:srgbClr val="643545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sponsible use heading">
            <a:extLst>
              <a:ext uri="{FF2B5EF4-FFF2-40B4-BE49-F238E27FC236}">
                <a16:creationId xmlns:a16="http://schemas.microsoft.com/office/drawing/2014/main" id="{AE376312-C0B3-4F35-8FEE-B286BFDA08AC}"/>
              </a:ext>
            </a:extLst>
          </p:cNvPr>
          <p:cNvSpPr>
            <a:spLocks noGrp="1"/>
          </p:cNvSpPr>
          <p:nvPr/>
        </p:nvSpPr>
        <p:spPr>
          <a:xfrm>
            <a:off x="476250" y="9715500"/>
            <a:ext cx="1581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2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USE of AI</a:t>
            </a:r>
          </a:p>
        </p:txBody>
      </p:sp>
      <p:sp>
        <p:nvSpPr>
          <p:cNvPr id="57" name="responsible use divider">
            <a:extLst>
              <a:ext uri="{FF2B5EF4-FFF2-40B4-BE49-F238E27FC236}">
                <a16:creationId xmlns:a16="http://schemas.microsoft.com/office/drawing/2014/main" id="{3D950A2F-CC7D-4E22-9F5A-968076622467}"/>
              </a:ext>
            </a:extLst>
          </p:cNvPr>
          <p:cNvSpPr>
            <a:spLocks noGrp="1"/>
          </p:cNvSpPr>
          <p:nvPr/>
        </p:nvSpPr>
        <p:spPr>
          <a:xfrm>
            <a:off x="476250" y="10239375"/>
            <a:ext cx="17868900" cy="9525"/>
          </a:xfrm>
          <a:prstGeom prst="rect">
            <a:avLst/>
          </a:prstGeom>
          <a:solidFill>
            <a:srgbClr val="936E7A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ource trust heading">
            <a:extLst>
              <a:ext uri="{FF2B5EF4-FFF2-40B4-BE49-F238E27FC236}">
                <a16:creationId xmlns:a16="http://schemas.microsoft.com/office/drawing/2014/main" id="{FA2B7EF6-E0F6-4E19-9139-8D1CBAE2445A}"/>
              </a:ext>
            </a:extLst>
          </p:cNvPr>
          <p:cNvSpPr>
            <a:spLocks noGrp="1"/>
          </p:cNvSpPr>
          <p:nvPr/>
        </p:nvSpPr>
        <p:spPr>
          <a:xfrm>
            <a:off x="476250" y="10363200"/>
            <a:ext cx="5791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SOURCE-LINKED ANSWERS</a:t>
            </a:r>
          </a:p>
        </p:txBody>
      </p:sp>
      <p:sp>
        <p:nvSpPr>
          <p:cNvPr id="59" name="source trust quote">
            <a:extLst>
              <a:ext uri="{FF2B5EF4-FFF2-40B4-BE49-F238E27FC236}">
                <a16:creationId xmlns:a16="http://schemas.microsoft.com/office/drawing/2014/main" id="{752A7D08-59BA-437E-909D-890F9E492760}"/>
              </a:ext>
            </a:extLst>
          </p:cNvPr>
          <p:cNvSpPr>
            <a:spLocks noGrp="1"/>
          </p:cNvSpPr>
          <p:nvPr/>
        </p:nvSpPr>
        <p:spPr>
          <a:xfrm>
            <a:off x="476250" y="10744200"/>
            <a:ext cx="5724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1" dirty="0">
                <a:solidFill>
                  <a:srgbClr val="F9F6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would trust an answer more if it linked to the original Brown page.”</a:t>
            </a:r>
          </a:p>
        </p:txBody>
      </p:sp>
      <p:sp>
        <p:nvSpPr>
          <p:cNvPr id="60" name="source trust citation">
            <a:extLst>
              <a:ext uri="{FF2B5EF4-FFF2-40B4-BE49-F238E27FC236}">
                <a16:creationId xmlns:a16="http://schemas.microsoft.com/office/drawing/2014/main" id="{B721344B-D87D-4476-AC35-EE9F81436ADF}"/>
              </a:ext>
            </a:extLst>
          </p:cNvPr>
          <p:cNvSpPr>
            <a:spLocks noGrp="1"/>
          </p:cNvSpPr>
          <p:nvPr/>
        </p:nvSpPr>
        <p:spPr>
          <a:xfrm>
            <a:off x="476250" y="11382375"/>
            <a:ext cx="5724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pPr>
            <a:r>
              <a:rPr sz="1148" b="1" i="0" dirty="0">
                <a:solidFill>
                  <a:srgbClr val="F0E4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P03_M035</a:t>
            </a:r>
          </a:p>
        </p:txBody>
      </p:sp>
      <p:sp>
        <p:nvSpPr>
          <p:cNvPr id="61" name="current trust heading">
            <a:extLst>
              <a:ext uri="{FF2B5EF4-FFF2-40B4-BE49-F238E27FC236}">
                <a16:creationId xmlns:a16="http://schemas.microsoft.com/office/drawing/2014/main" id="{02BB2D8D-A341-4A48-958E-F6FB8B5D7192}"/>
              </a:ext>
            </a:extLst>
          </p:cNvPr>
          <p:cNvSpPr>
            <a:spLocks noGrp="1"/>
          </p:cNvSpPr>
          <p:nvPr/>
        </p:nvSpPr>
        <p:spPr>
          <a:xfrm>
            <a:off x="6591300" y="10363200"/>
            <a:ext cx="5791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CHECKABLE, CURRENT INFORMATION</a:t>
            </a:r>
          </a:p>
        </p:txBody>
      </p:sp>
      <p:sp>
        <p:nvSpPr>
          <p:cNvPr id="62" name="current trust quote">
            <a:extLst>
              <a:ext uri="{FF2B5EF4-FFF2-40B4-BE49-F238E27FC236}">
                <a16:creationId xmlns:a16="http://schemas.microsoft.com/office/drawing/2014/main" id="{E4B9973B-481D-42A6-AF0D-E38D3913192F}"/>
              </a:ext>
            </a:extLst>
          </p:cNvPr>
          <p:cNvSpPr>
            <a:spLocks noGrp="1"/>
          </p:cNvSpPr>
          <p:nvPr/>
        </p:nvSpPr>
        <p:spPr>
          <a:xfrm>
            <a:off x="6591300" y="10744200"/>
            <a:ext cx="5724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1">
                <a:solidFill>
                  <a:srgbClr val="F9F6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 official-looking page might describe a project that ended years ago.”</a:t>
            </a:r>
          </a:p>
        </p:txBody>
      </p:sp>
      <p:sp>
        <p:nvSpPr>
          <p:cNvPr id="63" name="current trust citation">
            <a:extLst>
              <a:ext uri="{FF2B5EF4-FFF2-40B4-BE49-F238E27FC236}">
                <a16:creationId xmlns:a16="http://schemas.microsoft.com/office/drawing/2014/main" id="{023A2347-1E74-4B5A-B942-091DBCB63414}"/>
              </a:ext>
            </a:extLst>
          </p:cNvPr>
          <p:cNvSpPr>
            <a:spLocks noGrp="1"/>
          </p:cNvSpPr>
          <p:nvPr/>
        </p:nvSpPr>
        <p:spPr>
          <a:xfrm>
            <a:off x="6591300" y="11382375"/>
            <a:ext cx="5724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pPr>
            <a:r>
              <a:rPr sz="1148" b="1" i="0">
                <a:solidFill>
                  <a:srgbClr val="F0E4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P07_M029</a:t>
            </a:r>
          </a:p>
        </p:txBody>
      </p:sp>
      <p:sp>
        <p:nvSpPr>
          <p:cNvPr id="64" name="control trust heading">
            <a:extLst>
              <a:ext uri="{FF2B5EF4-FFF2-40B4-BE49-F238E27FC236}">
                <a16:creationId xmlns:a16="http://schemas.microsoft.com/office/drawing/2014/main" id="{99813F2C-03D1-4A15-B1A5-37940EE13DA1}"/>
              </a:ext>
            </a:extLst>
          </p:cNvPr>
          <p:cNvSpPr>
            <a:spLocks noGrp="1"/>
          </p:cNvSpPr>
          <p:nvPr/>
        </p:nvSpPr>
        <p:spPr>
          <a:xfrm>
            <a:off x="12725400" y="10363200"/>
            <a:ext cx="5791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54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CONTROL OVER PLANS</a:t>
            </a:r>
          </a:p>
        </p:txBody>
      </p:sp>
      <p:sp>
        <p:nvSpPr>
          <p:cNvPr id="65" name="control trust quote">
            <a:extLst>
              <a:ext uri="{FF2B5EF4-FFF2-40B4-BE49-F238E27FC236}">
                <a16:creationId xmlns:a16="http://schemas.microsoft.com/office/drawing/2014/main" id="{C0E117C1-EEF3-4468-A2FD-6D1474204F05}"/>
              </a:ext>
            </a:extLst>
          </p:cNvPr>
          <p:cNvSpPr>
            <a:spLocks noGrp="1"/>
          </p:cNvSpPr>
          <p:nvPr/>
        </p:nvSpPr>
        <p:spPr>
          <a:xfrm>
            <a:off x="12725400" y="10744200"/>
            <a:ext cx="5724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lnSpc>
                <a:spcPct val="102000"/>
              </a:lnSpc>
              <a:buNone/>
              <a:defRPr sz="1583" b="0" i="1">
                <a:solidFill>
                  <a:srgbClr val="F9F6F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1">
                <a:solidFill>
                  <a:srgbClr val="F9F6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“Let the chatbot propose a course plan, but I want to decide and register myself.”</a:t>
            </a:r>
          </a:p>
        </p:txBody>
      </p:sp>
      <p:sp>
        <p:nvSpPr>
          <p:cNvPr id="66" name="control trust citation">
            <a:extLst>
              <a:ext uri="{FF2B5EF4-FFF2-40B4-BE49-F238E27FC236}">
                <a16:creationId xmlns:a16="http://schemas.microsoft.com/office/drawing/2014/main" id="{70EA4280-2A88-4CE2-8375-BBEF6A03361D}"/>
              </a:ext>
            </a:extLst>
          </p:cNvPr>
          <p:cNvSpPr>
            <a:spLocks noGrp="1"/>
          </p:cNvSpPr>
          <p:nvPr/>
        </p:nvSpPr>
        <p:spPr>
          <a:xfrm>
            <a:off x="12725400" y="11382375"/>
            <a:ext cx="5724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lnSpc>
                <a:spcPct val="102000"/>
              </a:lnSpc>
              <a:buNone/>
              <a:defRPr sz="1148" b="1" i="0">
                <a:solidFill>
                  <a:srgbClr val="F0E4E7"/>
                </a:solidFill>
                <a:latin typeface="Nimbus Sans"/>
                <a:ea typeface="Nimbus Sans"/>
                <a:cs typeface="Nimbus Sans"/>
              </a:defRPr>
            </a:pPr>
            <a:r>
              <a:rPr sz="1148" b="1" i="0">
                <a:solidFill>
                  <a:srgbClr val="F0E4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P03_M036</a:t>
            </a:r>
          </a:p>
        </p:txBody>
      </p:sp>
    </p:spTree>
    <p:extLst>
      <p:ext uri="{BB962C8B-B14F-4D97-AF65-F5344CB8AC3E}">
        <p14:creationId xmlns:p14="http://schemas.microsoft.com/office/powerpoint/2010/main" val="16250791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386</Words>
  <Application>Microsoft Macintosh PowerPoint</Application>
  <DocSecurity>0</DocSecurity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Times New Roman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Gefei Liu</cp:lastModifiedBy>
  <cp:revision>4</cp:revision>
  <dcterms:created xsi:type="dcterms:W3CDTF">2026-10-24T23:47:29Z</dcterms:created>
  <dcterms:modified xsi:type="dcterms:W3CDTF">2026-10-25T00:02:42Z</dcterms:modified>
</cp:coreProperties>
</file>